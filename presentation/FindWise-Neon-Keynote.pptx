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b723f7ffb0e4fab" /><Relationship Type="http://schemas.openxmlformats.org/officeDocument/2006/relationships/extended-properties" Target="/docProps/app.xml" Id="Rdc34ef9382974427" /><Relationship Type="http://schemas.openxmlformats.org/officeDocument/2006/relationships/officeDocument" Target="/ppt/presentation.xml" Id="R169232144b654ca6" /></Relationships>
</file>

<file path=ppt/presentation.xml><?xml version="1.0" encoding="utf-8"?>
<p:presentation xmlns:p="http://schemas.openxmlformats.org/presentationml/2006/main">
  <p:sldMasterIdLst>
    <p:sldMasterId xmlns:r="http://schemas.openxmlformats.org/officeDocument/2006/relationships" id="2147483648" r:id="R5fb8a85a4c6f40a4"/>
  </p:sldMasterIdLst>
  <p:notesMasterIdLst>
    <p:notesMasterId xmlns:r="http://schemas.openxmlformats.org/officeDocument/2006/relationships" r:id="Rbf71acc18bf24497"/>
  </p:notesMasterIdLst>
  <p:sldIdLst>
    <p:sldId xmlns:r="http://schemas.openxmlformats.org/officeDocument/2006/relationships" id="256" r:id="Rd436ffb84d1d422f"/>
    <p:sldId xmlns:r="http://schemas.openxmlformats.org/officeDocument/2006/relationships" id="257" r:id="Rd7cf14743f0e4cfe"/>
    <p:sldId xmlns:r="http://schemas.openxmlformats.org/officeDocument/2006/relationships" id="258" r:id="Rdfae286c4f43466d"/>
    <p:sldId xmlns:r="http://schemas.openxmlformats.org/officeDocument/2006/relationships" id="259" r:id="R1c0bab8d1b424818"/>
    <p:sldId xmlns:r="http://schemas.openxmlformats.org/officeDocument/2006/relationships" id="260" r:id="R74d9565f59a54ad7"/>
    <p:sldId xmlns:r="http://schemas.openxmlformats.org/officeDocument/2006/relationships" id="261" r:id="R2c79b6a4c5d54be9"/>
    <p:sldId xmlns:r="http://schemas.openxmlformats.org/officeDocument/2006/relationships" id="262" r:id="R710f664b8df6447b"/>
    <p:sldId xmlns:r="http://schemas.openxmlformats.org/officeDocument/2006/relationships" id="263" r:id="R2b783ae5544e4534"/>
    <p:sldId xmlns:r="http://schemas.openxmlformats.org/officeDocument/2006/relationships" id="264" r:id="R35bb22d245c84e9d"/>
    <p:sldId xmlns:r="http://schemas.openxmlformats.org/officeDocument/2006/relationships" id="265" r:id="R3e3ef263ff654e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5e6829dcdf4823" /><Relationship Type="http://schemas.openxmlformats.org/officeDocument/2006/relationships/slideMaster" Target="/ppt/slideMasters/slideMaster1.xml" Id="R5fb8a85a4c6f40a4" /><Relationship Type="http://schemas.openxmlformats.org/officeDocument/2006/relationships/notesMaster" Target="/ppt/notesMasters/notesMaster1.xml" Id="Rbf71acc18bf24497" /><Relationship Type="http://schemas.openxmlformats.org/officeDocument/2006/relationships/presProps" Target="/ppt/presProps.xml" Id="R25a0a14567b44730" /><Relationship Type="http://schemas.openxmlformats.org/officeDocument/2006/relationships/tableStyles" Target="/ppt/tableStyles.xml" Id="R5a1d6be11c0d4a2f" /><Relationship Type="http://schemas.openxmlformats.org/officeDocument/2006/relationships/slide" Target="/ppt/slides/slide1.xml" Id="Rd436ffb84d1d422f" /><Relationship Type="http://schemas.openxmlformats.org/officeDocument/2006/relationships/slide" Target="/ppt/slides/slide2.xml" Id="Rd7cf14743f0e4cfe" /><Relationship Type="http://schemas.openxmlformats.org/officeDocument/2006/relationships/slide" Target="/ppt/slides/slide3.xml" Id="Rdfae286c4f43466d" /><Relationship Type="http://schemas.openxmlformats.org/officeDocument/2006/relationships/slide" Target="/ppt/slides/slide4.xml" Id="R1c0bab8d1b424818" /><Relationship Type="http://schemas.openxmlformats.org/officeDocument/2006/relationships/slide" Target="/ppt/slides/slide5.xml" Id="R74d9565f59a54ad7" /><Relationship Type="http://schemas.openxmlformats.org/officeDocument/2006/relationships/slide" Target="/ppt/slides/slide6.xml" Id="R2c79b6a4c5d54be9" /><Relationship Type="http://schemas.openxmlformats.org/officeDocument/2006/relationships/slide" Target="/ppt/slides/slide7.xml" Id="R710f664b8df6447b" /><Relationship Type="http://schemas.openxmlformats.org/officeDocument/2006/relationships/slide" Target="/ppt/slides/slide8.xml" Id="R2b783ae5544e4534" /><Relationship Type="http://schemas.openxmlformats.org/officeDocument/2006/relationships/slide" Target="/ppt/slides/slide9.xml" Id="R35bb22d245c84e9d" /><Relationship Type="http://schemas.openxmlformats.org/officeDocument/2006/relationships/slide" Target="/ppt/slides/slide10.xml" Id="R3e3ef263ff654e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6867c306dc41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106b0573fe4ce9" /><Relationship Type="http://schemas.openxmlformats.org/officeDocument/2006/relationships/notesMaster" Target="/ppt/notesMasters/notesMaster1.xml" Id="R5e9d395adc4c49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943582cbb84770" /><Relationship Type="http://schemas.openxmlformats.org/officeDocument/2006/relationships/notesMaster" Target="/ppt/notesMasters/notesMaster1.xml" Id="Rf297c3b7249347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b9c3e354494541" /><Relationship Type="http://schemas.openxmlformats.org/officeDocument/2006/relationships/notesMaster" Target="/ppt/notesMasters/notesMaster1.xml" Id="R332a758d8de346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fe85ba0cc0438a" /><Relationship Type="http://schemas.openxmlformats.org/officeDocument/2006/relationships/notesMaster" Target="/ppt/notesMasters/notesMaster1.xml" Id="R3edd877ebff24ff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f5f5d65dfb477a" /><Relationship Type="http://schemas.openxmlformats.org/officeDocument/2006/relationships/notesMaster" Target="/ppt/notesMasters/notesMaster1.xml" Id="Rcf082f970a584b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dc9e76edc7472e" /><Relationship Type="http://schemas.openxmlformats.org/officeDocument/2006/relationships/notesMaster" Target="/ppt/notesMasters/notesMaster1.xml" Id="R3164d321d33949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6d7d5198a04970" /><Relationship Type="http://schemas.openxmlformats.org/officeDocument/2006/relationships/notesMaster" Target="/ppt/notesMasters/notesMaster1.xml" Id="R88bfdf79e2a849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a87ee803944d4a" /><Relationship Type="http://schemas.openxmlformats.org/officeDocument/2006/relationships/notesMaster" Target="/ppt/notesMasters/notesMaster1.xml" Id="Rcedd99e283b84b9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31467062e4492d" /><Relationship Type="http://schemas.openxmlformats.org/officeDocument/2006/relationships/notesMaster" Target="/ppt/notesMasters/notesMaster1.xml" Id="R4cd4d9bfb90040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ef6a7f1b508472f" /><Relationship Type="http://schemas.openxmlformats.org/officeDocument/2006/relationships/notesMaster" Target="/ppt/notesMasters/notesMaster1.xml" Id="R7336ad07372541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0:00–0:10. Begin by typing the prepared backpack query in the app. Then: “FindWise helps you decide. And your preferences stay with you.”</a:t>
            </a:r>
          </a:p>
          <a:p xmlns:a="http://schemas.openxmlformats.org/drawingml/2006/main">
            <a:r>
              <a:t/>
            </a:r>
          </a:p>
          <a:p xmlns:a="http://schemas.openxmlformats.org/drawingml/2006/main">
            <a:r>
              <a:t/>
            </a:r>
          </a:p>
          <a:p xmlns:a="http://schemas.openxmlformats.org/drawingml/2006/main">
            <a:r>
              <a:t>Source: FindWise prototype implementation and verified development runs, October 3, 2026. Illustrative brand examples, scores and council dialogue are not live research or purchase advice. Profile preferences are editable hypotheses. Explicit requests override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0:10–0:20. “Every category asks us to start again. Different filters, same person.”</a:t>
            </a:r>
          </a:p>
          <a:p xmlns:a="http://schemas.openxmlformats.org/drawingml/2006/main">
            <a:r>
              <a:t/>
            </a:r>
          </a:p>
          <a:p xmlns:a="http://schemas.openxmlformats.org/drawingml/2006/main">
            <a:r>
              <a:t>The four windows are conceptual examples, not screenshots of named services.</a:t>
            </a:r>
          </a:p>
          <a:p xmlns:a="http://schemas.openxmlformats.org/drawingml/2006/main">
            <a:r>
              <a:t>Source: FindWise prototype implementation and verified development runs, October 3, 2026. Illustrative brand examples, scores and council dialogue are not live research or purchase advice. Profile preferences are editable hypotheses. Explicit requests override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0:20–0:35. “Likes give us clues. We turn them into an editable taste profile. It travels with you.”</a:t>
            </a:r>
          </a:p>
          <a:p xmlns:a="http://schemas.openxmlformats.org/drawingml/2006/main">
            <a:r>
              <a:t/>
            </a:r>
          </a:p>
          <a:p xmlns:a="http://schemas.openxmlformats.org/drawingml/2006/main">
            <a:r>
              <a:t>Bars are illustrative trait strengths, not measured confidence or an XP level. No scientific DNA or LORE implementation claim.</a:t>
            </a:r>
          </a:p>
          <a:p xmlns:a="http://schemas.openxmlformats.org/drawingml/2006/main">
            <a:r>
              <a:t>Source: FindWise prototype implementation and verified development runs, October 3, 2026. Illustrative brand examples, scores and council dialogue are not live research or purchase advice. Profile preferences are editable hypotheses. Explicit requests override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0:35–0:50. “FindWise generates the signals for this decision. Some come from my request, some from my remembered taste. I stay in control.”</a:t>
            </a:r>
          </a:p>
          <a:p xmlns:a="http://schemas.openxmlformats.org/drawingml/2006/main">
            <a:r>
              <a:t/>
            </a:r>
          </a:p>
          <a:p xmlns:a="http://schemas.openxmlformats.org/drawingml/2006/main">
            <a:r>
              <a:t>Criteria are an illustrative presentation of the implemented dynamic criteria feature. Warranty terms require evidence.</a:t>
            </a:r>
          </a:p>
          <a:p xmlns:a="http://schemas.openxmlformats.org/drawingml/2006/main">
            <a:r>
              <a:t>Source: FindWise prototype implementation and verified development runs, October 3, 2026. Illustrative brand examples, scores and council dialogue are not live research or purchase advice. Profile preferences are editable hypotheses. Explicit requests override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0:50–1:00. “The experts examine different tradeoffs. BAND passes their contributions to later reviewers, so the final advice uses the discussion.”</a:t>
            </a:r>
          </a:p>
          <a:p xmlns:a="http://schemas.openxmlformats.org/drawingml/2006/main">
            <a:r>
              <a:t/>
            </a:r>
          </a:p>
          <a:p xmlns:a="http://schemas.openxmlformats.org/drawingml/2006/main">
            <a:r>
              <a:t>Illustrative dialogue and role labels. The real implementation runs six managed experts with routed review, not all simultaneously. Animated pulses indicate activity in this presentation only.</a:t>
            </a:r>
          </a:p>
          <a:p xmlns:a="http://schemas.openxmlformats.org/drawingml/2006/main">
            <a:r>
              <a:t>Source: FindWise prototype implementation and verified development runs, October 3, 2026. Illustrative brand examples, scores and council dialogue are not live research or purchase advice. Profile preferences are editable hypotheses. Explicit requests override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1:00–1:10. “The match score explains the tradeoffs. I can see what helped the winner and what it gave up.”</a:t>
            </a:r>
          </a:p>
          <a:p xmlns:a="http://schemas.openxmlformats.org/drawingml/2006/main">
            <a:r>
              <a:t/>
            </a:r>
          </a:p>
          <a:p xmlns:a="http://schemas.openxmlformats.org/drawingml/2006/main">
            <a:r>
              <a:t>All product scores and radar values are supplied/illustrative demo examples. Peak Design eligibility depends on an actual model and price. These examples do not claim compliance with the $200 budget. Live constraint failures rank below eligible candidates.</a:t>
            </a:r>
          </a:p>
          <a:p xmlns:a="http://schemas.openxmlformats.org/drawingml/2006/main">
            <a:r>
              <a:t>Source: FindWise prototype implementation and verified development runs, October 3, 2026. Illustrative brand examples, scores and council dialogue are not live research or purchase advice. Profile preferences are editable hypotheses. Explicit requests override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1:10–1:35. Switch to the prepared hotel flow. “Now I change the category. The profile stays. New criteria fit the new decision. I do not start over.” Pause to let judges see the transfer.</a:t>
            </a:r>
          </a:p>
          <a:p xmlns:a="http://schemas.openxmlformats.org/drawingml/2006/main">
            <a:r>
              <a:t/>
            </a:r>
          </a:p>
          <a:p xmlns:a="http://schemas.openxmlformats.org/drawingml/2006/main">
            <a:r>
              <a:t>Illustrative hotel signals. Walkability needs contextual evidence and should not be inferred as fact from brand likes. The mechanism transfers editable preferences, not proven universal recommendation quality.</a:t>
            </a:r>
          </a:p>
          <a:p xmlns:a="http://schemas.openxmlformats.org/drawingml/2006/main">
            <a:r>
              <a:t>Source: FindWise prototype implementation and verified development runs, October 3, 2026. Illustrative brand examples, scores and council dialogue are not live research or purchase advice. Profile preferences are editable hypotheses. Explicit requests override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1:35–1:50. Move a slider in the app. “This recomputes in the browser using the same score matrix. No new model call.”</a:t>
            </a:r>
          </a:p>
          <a:p xmlns:a="http://schemas.openxmlformats.org/drawingml/2006/main">
            <a:r>
              <a:t/>
            </a:r>
          </a:p>
          <a:p xmlns:a="http://schemas.openxmlformats.org/drawingml/2006/main">
            <a:r>
              <a:t>Displayed scores and rank swaps are illustrative. HTML slider is a presentation interaction, separate from the live app.</a:t>
            </a:r>
          </a:p>
          <a:p xmlns:a="http://schemas.openxmlformats.org/drawingml/2006/main">
            <a:r>
              <a:t>Source: FindWise prototype implementation and verified development runs, October 3, 2026. Illustrative brand examples, scores and council dialogue are not live research or purchase advice. Profile preferences are editable hypotheses. Explicit requests override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1:50–2:05. “Moss recalls context, ZooWork runs the reasoning, Tavily gathers evidence, BAND coordinates the council. The browser makes tradeoff changes instant.”</a:t>
            </a:r>
          </a:p>
          <a:p xmlns:a="http://schemas.openxmlformats.org/drawingml/2006/main">
            <a:r>
              <a:t/>
            </a:r>
          </a:p>
          <a:p xmlns:a="http://schemas.openxmlformats.org/drawingml/2006/main">
            <a:r>
              <a:t>These are real integrations. D1 persists profiles, Moss retrieves a derived local preference index, BAND supports routed messages. No sponsor logos used or performance guarantees made.</a:t>
            </a:r>
          </a:p>
          <a:p xmlns:a="http://schemas.openxmlformats.org/drawingml/2006/main">
            <a:r>
              <a:t>Source: FindWise prototype implementation and verified development runs, October 3, 2026. Illustrative brand examples, scores and council dialogue are not live research or purchase advice. Profile preferences are editable hypotheses. Explicit requests override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2:05–2:20. “Search engines help you find what is available. FindWise helps you choose what is right for you.” Stop and take questions.</a:t>
            </a:r>
          </a:p>
          <a:p xmlns:a="http://schemas.openxmlformats.org/drawingml/2006/main">
            <a:r>
              <a:t/>
            </a:r>
          </a:p>
          <a:p xmlns:a="http://schemas.openxmlformats.org/drawingml/2006/main">
            <a:r>
              <a:t>Comparisons are pitch metaphors, not claims that other services lack user personalization.</a:t>
            </a:r>
          </a:p>
          <a:p xmlns:a="http://schemas.openxmlformats.org/drawingml/2006/main">
            <a:r>
              <a:t>Source: FindWise prototype implementation and verified development runs, October 3, 2026. Illustrative brand examples, scores and council dialogue are not live research or purchase advice. Profile preferences are editable hypotheses. Explicit requests override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65ef6067404a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f0fc4fea8f4d33" /><Relationship Type="http://schemas.openxmlformats.org/officeDocument/2006/relationships/slideLayout" Target="/ppt/slideLayouts/slideLayout1.xml" Id="Rb074dbe072e548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74dbe072e548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42c6ff39fe4050" /><Relationship Type="http://schemas.openxmlformats.org/officeDocument/2006/relationships/notesSlide" Target="/ppt/notesSlides/notesSlide1.xml" Id="R2eee6558df844d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d0c32d76824370" /><Relationship Type="http://schemas.openxmlformats.org/officeDocument/2006/relationships/notesSlide" Target="/ppt/notesSlides/notesSlide2.xml" Id="R31add363de7547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e1f0c6639f490a" /><Relationship Type="http://schemas.openxmlformats.org/officeDocument/2006/relationships/notesSlide" Target="/ppt/notesSlides/notesSlide3.xml" Id="Rd8fd5f8fbe0b40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1c00bce8be45fb" /><Relationship Type="http://schemas.openxmlformats.org/officeDocument/2006/relationships/notesSlide" Target="/ppt/notesSlides/notesSlide4.xml" Id="Rb4676d46144f4e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7c01bd58ff843fe" /><Relationship Type="http://schemas.openxmlformats.org/officeDocument/2006/relationships/notesSlide" Target="/ppt/notesSlides/notesSlide5.xml" Id="Rd8b4259560e443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f65a8430ef94dc5" /><Relationship Type="http://schemas.openxmlformats.org/officeDocument/2006/relationships/chart" Target="/ppt/slides/charts/chart1.xml" Id="R58fdb1c0da394dc4" /><Relationship Type="http://schemas.openxmlformats.org/officeDocument/2006/relationships/chart" Target="/ppt/slides/charts/chart2.xml" Id="R6748cb9b0f6e4d31" /><Relationship Type="http://schemas.openxmlformats.org/officeDocument/2006/relationships/chart" Target="/ppt/slides/charts/chart3.xml" Id="R9a9ffee140e343f0" /><Relationship Type="http://schemas.openxmlformats.org/officeDocument/2006/relationships/chart" Target="/ppt/slides/charts/chart4.xml" Id="R6fc65fea17b14f98" /><Relationship Type="http://schemas.openxmlformats.org/officeDocument/2006/relationships/notesSlide" Target="/ppt/notesSlides/notesSlide6.xml" Id="R4c26b5cb4cc149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d1323623e0439b" /><Relationship Type="http://schemas.openxmlformats.org/officeDocument/2006/relationships/notesSlide" Target="/ppt/notesSlides/notesSlide7.xml" Id="R5e3befe8538f46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a49152f42343aa" /><Relationship Type="http://schemas.openxmlformats.org/officeDocument/2006/relationships/notesSlide" Target="/ppt/notesSlides/notesSlide8.xml" Id="Rb56a4be3da614f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fae60cb2f5f4f33" /><Relationship Type="http://schemas.openxmlformats.org/officeDocument/2006/relationships/notesSlide" Target="/ppt/notesSlides/notesSlide9.xml" Id="R09236cb4036b47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188b5805e5243e5" /><Relationship Type="http://schemas.openxmlformats.org/officeDocument/2006/relationships/notesSlide" Target="/ppt/notesSlides/notesSlide10.xml" Id="Ra521bee14f524b8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radarChart>
        <c:radarStyle val="standard"/>
        <c:ser>
          <c:idx val="0"/>
          <c:order val="0"/>
          <c:tx>
            <c:v>Aer</c:v>
          </c:tx>
          <c:spPr>
            <a:noFill xmlns:a="http://schemas.openxmlformats.org/drawingml/2006/main"/>
            <a:ln xmlns:a="http://schemas.openxmlformats.org/drawingml/2006/main" w="19050">
              <a:solidFill>
                <a:srgbClr val="5BE7FF"/>
              </a:solidFill>
            </a:ln>
          </c:spPr>
          <c:cat>
            <c:strRef>
              <c:f>'Chart Data'!$A$2:$A$5</c:f>
              <c:strCache>
                <c:ptCount val="4"/>
                <c:pt idx="0">
                  <c:v>Design</c:v>
                </c:pt>
                <c:pt idx="1">
                  <c:v>Build</c:v>
                </c:pt>
                <c:pt idx="2">
                  <c:v>Value</c:v>
                </c:pt>
                <c:pt idx="3">
                  <c:v>Travel</c:v>
                </c:pt>
              </c:strCache>
            </c:strRef>
          </c:cat>
          <c:val>
            <c:numRef>
              <c:f>'Chart Data'!$B$2:$B$5</c:f>
              <c:numCache>
                <c:formatCode>General</c:formatCode>
                <c:ptCount val="4"/>
                <c:pt idx="0">
                  <c:v>95</c:v>
                </c:pt>
                <c:pt idx="1">
                  <c:v>97</c:v>
                </c:pt>
                <c:pt idx="2">
                  <c:v>65</c:v>
                </c:pt>
                <c:pt idx="3">
                  <c:v>96</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rad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94A6BF"/>
                </a:solidFill>
                <a:latin typeface="Helvetica Neue"/>
                <a:ea typeface="Helvetica Neue"/>
                <a:cs typeface="Helvetica Neue"/>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141D2B"/>
        </a:solidFill>
      </c:spPr>
    </c:plotArea>
    <c:plotVisOnly val="1"/>
  </c:chart>
  <c:spPr>
    <a:solidFill xmlns:a="http://schemas.openxmlformats.org/drawingml/2006/main">
      <a:srgbClr val="141D2B"/>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radarChart>
        <c:radarStyle val="standard"/>
        <c:ser>
          <c:idx val="0"/>
          <c:order val="0"/>
          <c:tx>
            <c:v>Peak Design</c:v>
          </c:tx>
          <c:spPr>
            <a:noFill xmlns:a="http://schemas.openxmlformats.org/drawingml/2006/main"/>
            <a:ln xmlns:a="http://schemas.openxmlformats.org/drawingml/2006/main" w="19050">
              <a:solidFill>
                <a:srgbClr val="5BE7FF"/>
              </a:solidFill>
            </a:ln>
          </c:spPr>
          <c:cat>
            <c:strRef>
              <c:f>'Chart Data'!$A$2:$A$5</c:f>
              <c:strCache>
                <c:ptCount val="4"/>
                <c:pt idx="0">
                  <c:v>Design</c:v>
                </c:pt>
                <c:pt idx="1">
                  <c:v>Build</c:v>
                </c:pt>
                <c:pt idx="2">
                  <c:v>Value</c:v>
                </c:pt>
                <c:pt idx="3">
                  <c:v>Travel</c:v>
                </c:pt>
              </c:strCache>
            </c:strRef>
          </c:cat>
          <c:val>
            <c:numRef>
              <c:f>'Chart Data'!$B$2:$B$5</c:f>
              <c:numCache>
                <c:formatCode>General</c:formatCode>
                <c:ptCount val="4"/>
                <c:pt idx="0">
                  <c:v>90</c:v>
                </c:pt>
                <c:pt idx="1">
                  <c:v>94</c:v>
                </c:pt>
                <c:pt idx="2">
                  <c:v>55</c:v>
                </c:pt>
                <c:pt idx="3">
                  <c:v>98</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rad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94A6BF"/>
                </a:solidFill>
                <a:latin typeface="Helvetica Neue"/>
                <a:ea typeface="Helvetica Neue"/>
                <a:cs typeface="Helvetica Neue"/>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141D2B"/>
        </a:solidFill>
      </c:spPr>
    </c:plotArea>
    <c:plotVisOnly val="1"/>
  </c:chart>
  <c:spPr>
    <a:solidFill xmlns:a="http://schemas.openxmlformats.org/drawingml/2006/main">
      <a:srgbClr val="141D2B"/>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radarChart>
        <c:radarStyle val="standard"/>
        <c:ser>
          <c:idx val="0"/>
          <c:order val="0"/>
          <c:tx>
            <c:v>Bellroy</c:v>
          </c:tx>
          <c:spPr>
            <a:noFill xmlns:a="http://schemas.openxmlformats.org/drawingml/2006/main"/>
            <a:ln xmlns:a="http://schemas.openxmlformats.org/drawingml/2006/main" w="19050">
              <a:solidFill>
                <a:srgbClr val="5BE7FF"/>
              </a:solidFill>
            </a:ln>
          </c:spPr>
          <c:cat>
            <c:strRef>
              <c:f>'Chart Data'!$A$2:$A$5</c:f>
              <c:strCache>
                <c:ptCount val="4"/>
                <c:pt idx="0">
                  <c:v>Design</c:v>
                </c:pt>
                <c:pt idx="1">
                  <c:v>Build</c:v>
                </c:pt>
                <c:pt idx="2">
                  <c:v>Value</c:v>
                </c:pt>
                <c:pt idx="3">
                  <c:v>Travel</c:v>
                </c:pt>
              </c:strCache>
            </c:strRef>
          </c:cat>
          <c:val>
            <c:numRef>
              <c:f>'Chart Data'!$B$2:$B$5</c:f>
              <c:numCache>
                <c:formatCode>General</c:formatCode>
                <c:ptCount val="4"/>
                <c:pt idx="0">
                  <c:v>96</c:v>
                </c:pt>
                <c:pt idx="1">
                  <c:v>85</c:v>
                </c:pt>
                <c:pt idx="2">
                  <c:v>83</c:v>
                </c:pt>
                <c:pt idx="3">
                  <c:v>85</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rad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94A6BF"/>
                </a:solidFill>
                <a:latin typeface="Helvetica Neue"/>
                <a:ea typeface="Helvetica Neue"/>
                <a:cs typeface="Helvetica Neue"/>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141D2B"/>
        </a:solidFill>
      </c:spPr>
    </c:plotArea>
    <c:plotVisOnly val="1"/>
  </c:chart>
  <c:spPr>
    <a:solidFill xmlns:a="http://schemas.openxmlformats.org/drawingml/2006/main">
      <a:srgbClr val="141D2B"/>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radarChart>
        <c:radarStyle val="standard"/>
        <c:ser>
          <c:idx val="0"/>
          <c:order val="0"/>
          <c:tx>
            <c:v>Patagonia</c:v>
          </c:tx>
          <c:spPr>
            <a:noFill xmlns:a="http://schemas.openxmlformats.org/drawingml/2006/main"/>
            <a:ln xmlns:a="http://schemas.openxmlformats.org/drawingml/2006/main" w="19050">
              <a:solidFill>
                <a:srgbClr val="5BE7FF"/>
              </a:solidFill>
            </a:ln>
          </c:spPr>
          <c:cat>
            <c:strRef>
              <c:f>'Chart Data'!$A$2:$A$5</c:f>
              <c:strCache>
                <c:ptCount val="4"/>
                <c:pt idx="0">
                  <c:v>Design</c:v>
                </c:pt>
                <c:pt idx="1">
                  <c:v>Build</c:v>
                </c:pt>
                <c:pt idx="2">
                  <c:v>Value</c:v>
                </c:pt>
                <c:pt idx="3">
                  <c:v>Travel</c:v>
                </c:pt>
              </c:strCache>
            </c:strRef>
          </c:cat>
          <c:val>
            <c:numRef>
              <c:f>'Chart Data'!$B$2:$B$5</c:f>
              <c:numCache>
                <c:formatCode>General</c:formatCode>
                <c:ptCount val="4"/>
                <c:pt idx="0">
                  <c:v>70</c:v>
                </c:pt>
                <c:pt idx="1">
                  <c:v>96</c:v>
                </c:pt>
                <c:pt idx="2">
                  <c:v>96</c:v>
                </c:pt>
                <c:pt idx="3">
                  <c:v>72</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rad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94A6BF"/>
                </a:solidFill>
                <a:latin typeface="Helvetica Neue"/>
                <a:ea typeface="Helvetica Neue"/>
                <a:cs typeface="Helvetica Neue"/>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141D2B"/>
        </a:solidFill>
      </c:spPr>
    </c:plotArea>
    <c:plotVisOnly val="1"/>
  </c:chart>
  <c:spPr>
    <a:solidFill xmlns:a="http://schemas.openxmlformats.org/drawingml/2006/main">
      <a:srgbClr val="141D2B"/>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6EFA77-F82C-4518-9674-B8B39CBE7922}"/>
              </a:ext>
            </a:extLst>
          </p:cNvPr>
          <p:cNvSpPr>
            <a:spLocks xmlns:a="http://schemas.openxmlformats.org/drawingml/2006/main" noGrp="1"/>
          </p:cNvSpPr>
          <p:nvPr/>
        </p:nvSpPr>
        <p:spPr>
          <a:xfrm xmlns:a="http://schemas.openxmlformats.org/drawingml/2006/main">
            <a:off x="609600" y="266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5BE7FF"/>
                </a:solidFill>
                <a:latin typeface="Helvetica Neue"/>
                <a:ea typeface="Helvetica Neue"/>
                <a:cs typeface="Helvetica Neue"/>
              </a:defRPr>
            </a:pPr>
            <a:r>
              <a:rPr sz="1350" b="1">
                <a:solidFill>
                  <a:srgbClr val="5BE7FF"/>
                </a:solidFill>
                <a:latin typeface="Helvetica Neue"/>
                <a:ea typeface="Helvetica Neue"/>
                <a:cs typeface="Helvetica Neue"/>
              </a:rPr>
              <a:t>FINDWISE</a:t>
            </a:r>
          </a:p>
        </p:txBody>
      </p:sp>
      <p:sp>
        <p:nvSpPr>
          <p:cNvPr id="2" name="">
            <a:extLst xmlns:a="http://schemas.openxmlformats.org/drawingml/2006/main">
              <a:ext uri="{FF2B5EF4-FFF2-40B4-BE49-F238E27FC236}">
                <a16:creationId xmlns:a16="http://schemas.microsoft.com/office/drawing/2014/main" id="{E2618920-4130-4C8E-8341-684C6BA60B81}"/>
              </a:ext>
            </a:extLst>
          </p:cNvPr>
          <p:cNvSpPr>
            <a:spLocks xmlns:a="http://schemas.openxmlformats.org/drawingml/2006/main" noGrp="1"/>
          </p:cNvSpPr>
          <p:nvPr/>
        </p:nvSpPr>
        <p:spPr>
          <a:xfrm xmlns:a="http://schemas.openxmlformats.org/drawingml/2006/main">
            <a:off x="10668000" y="2667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94A6BF"/>
                </a:solidFill>
                <a:latin typeface="Helvetica Neue"/>
                <a:ea typeface="Helvetica Neue"/>
                <a:cs typeface="Helvetica Neue"/>
              </a:defRPr>
            </a:pPr>
            <a:r>
              <a:rPr sz="1350" b="0">
                <a:solidFill>
                  <a:srgbClr val="94A6BF"/>
                </a:solidFill>
                <a:latin typeface="Helvetica Neue"/>
                <a:ea typeface="Helvetica Neue"/>
                <a:cs typeface="Helvetica Neue"/>
              </a:rPr>
              <a:t>01 / 10</a:t>
            </a:r>
          </a:p>
        </p:txBody>
      </p:sp>
      <p:sp>
        <p:nvSpPr>
          <p:cNvPr id="3" name="">
            <a:extLst xmlns:a="http://schemas.openxmlformats.org/drawingml/2006/main">
              <a:ext uri="{FF2B5EF4-FFF2-40B4-BE49-F238E27FC236}">
                <a16:creationId xmlns:a16="http://schemas.microsoft.com/office/drawing/2014/main" id="{658227D1-8AFF-4364-9FD0-05CCDE678710}"/>
              </a:ext>
            </a:extLst>
          </p:cNvPr>
          <p:cNvSpPr>
            <a:spLocks xmlns:a="http://schemas.openxmlformats.org/drawingml/2006/main" noGrp="1"/>
          </p:cNvSpPr>
          <p:nvPr/>
        </p:nvSpPr>
        <p:spPr>
          <a:xfrm xmlns:a="http://schemas.openxmlformats.org/drawingml/2006/main">
            <a:off x="609600" y="1571625"/>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250" b="1">
                <a:solidFill>
                  <a:srgbClr val="5BE7FF"/>
                </a:solidFill>
                <a:latin typeface="Helvetica Neue"/>
                <a:ea typeface="Helvetica Neue"/>
                <a:cs typeface="Helvetica Neue"/>
              </a:defRPr>
            </a:pPr>
            <a:r>
              <a:rPr sz="8250" b="1">
                <a:solidFill>
                  <a:srgbClr val="5BE7FF"/>
                </a:solidFill>
                <a:latin typeface="Helvetica Neue"/>
                <a:ea typeface="Helvetica Neue"/>
                <a:cs typeface="Helvetica Neue"/>
              </a:rPr>
              <a:t>FindWise</a:t>
            </a:r>
          </a:p>
        </p:txBody>
      </p:sp>
      <p:sp>
        <p:nvSpPr>
          <p:cNvPr id="4" name="">
            <a:extLst xmlns:a="http://schemas.openxmlformats.org/drawingml/2006/main">
              <a:ext uri="{FF2B5EF4-FFF2-40B4-BE49-F238E27FC236}">
                <a16:creationId xmlns:a16="http://schemas.microsoft.com/office/drawing/2014/main" id="{E34F156D-479A-44E1-B4B8-1267EF5BA125}"/>
              </a:ext>
            </a:extLst>
          </p:cNvPr>
          <p:cNvSpPr>
            <a:spLocks xmlns:a="http://schemas.openxmlformats.org/drawingml/2006/main" noGrp="1"/>
          </p:cNvSpPr>
          <p:nvPr/>
        </p:nvSpPr>
        <p:spPr>
          <a:xfrm xmlns:a="http://schemas.openxmlformats.org/drawingml/2006/main">
            <a:off x="666750" y="31146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0">
                <a:solidFill>
                  <a:srgbClr val="F4F8FF"/>
                </a:solidFill>
                <a:latin typeface="Helvetica Neue"/>
                <a:ea typeface="Helvetica Neue"/>
                <a:cs typeface="Helvetica Neue"/>
              </a:defRPr>
            </a:pPr>
            <a:r>
              <a:rPr sz="3675" b="0">
                <a:solidFill>
                  <a:srgbClr val="F4F8FF"/>
                </a:solidFill>
                <a:latin typeface="Helvetica Neue"/>
                <a:ea typeface="Helvetica Neue"/>
                <a:cs typeface="Helvetica Neue"/>
              </a:rPr>
              <a:t>The Internet helps you search.</a:t>
            </a:r>
          </a:p>
        </p:txBody>
      </p:sp>
      <p:sp>
        <p:nvSpPr>
          <p:cNvPr id="5" name="">
            <a:extLst xmlns:a="http://schemas.openxmlformats.org/drawingml/2006/main">
              <a:ext uri="{FF2B5EF4-FFF2-40B4-BE49-F238E27FC236}">
                <a16:creationId xmlns:a16="http://schemas.microsoft.com/office/drawing/2014/main" id="{360CAC66-1ECB-45E4-8F89-97B60A9F6BBE}"/>
              </a:ext>
            </a:extLst>
          </p:cNvPr>
          <p:cNvSpPr>
            <a:spLocks xmlns:a="http://schemas.openxmlformats.org/drawingml/2006/main" noGrp="1"/>
          </p:cNvSpPr>
          <p:nvPr/>
        </p:nvSpPr>
        <p:spPr>
          <a:xfrm xmlns:a="http://schemas.openxmlformats.org/drawingml/2006/main">
            <a:off x="666750" y="39528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F4F8FF"/>
                </a:solidFill>
                <a:latin typeface="Helvetica Neue"/>
                <a:ea typeface="Helvetica Neue"/>
                <a:cs typeface="Helvetica Neue"/>
              </a:defRPr>
            </a:pPr>
            <a:r>
              <a:rPr sz="4200" b="1">
                <a:solidFill>
                  <a:srgbClr val="F4F8FF"/>
                </a:solidFill>
                <a:latin typeface="Helvetica Neue"/>
                <a:ea typeface="Helvetica Neue"/>
                <a:cs typeface="Helvetica Neue"/>
              </a:rPr>
              <a:t>FindWise helps you decide.</a:t>
            </a:r>
          </a:p>
        </p:txBody>
      </p:sp>
      <p:sp>
        <p:nvSpPr>
          <p:cNvPr id="6" name="">
            <a:extLst xmlns:a="http://schemas.openxmlformats.org/drawingml/2006/main">
              <a:ext uri="{FF2B5EF4-FFF2-40B4-BE49-F238E27FC236}">
                <a16:creationId xmlns:a16="http://schemas.microsoft.com/office/drawing/2014/main" id="{0E1195E0-6751-4221-BBE0-0F1DBCA36D98}"/>
              </a:ext>
            </a:extLst>
          </p:cNvPr>
          <p:cNvSpPr>
            <a:spLocks xmlns:a="http://schemas.openxmlformats.org/drawingml/2006/main" noGrp="1"/>
          </p:cNvSpPr>
          <p:nvPr/>
        </p:nvSpPr>
        <p:spPr>
          <a:xfrm xmlns:a="http://schemas.openxmlformats.org/drawingml/2006/main">
            <a:off x="685800" y="52197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94A6BF"/>
                </a:solidFill>
                <a:latin typeface="Helvetica Neue"/>
                <a:ea typeface="Helvetica Neue"/>
                <a:cs typeface="Helvetica Neue"/>
              </a:defRPr>
            </a:pPr>
            <a:r>
              <a:rPr sz="2100" b="0">
                <a:solidFill>
                  <a:srgbClr val="94A6BF"/>
                </a:solidFill>
                <a:latin typeface="Helvetica Neue"/>
                <a:ea typeface="Helvetica Neue"/>
                <a:cs typeface="Helvetica Neue"/>
              </a:rPr>
              <a:t>Your preferences shouldn't reset every time you search.</a:t>
            </a:r>
          </a:p>
        </p:txBody>
      </p:sp>
      <p:sp>
        <p:nvSpPr>
          <p:cNvPr id="7" name="">
            <a:extLst xmlns:a="http://schemas.openxmlformats.org/drawingml/2006/main">
              <a:ext uri="{FF2B5EF4-FFF2-40B4-BE49-F238E27FC236}">
                <a16:creationId xmlns:a16="http://schemas.microsoft.com/office/drawing/2014/main" id="{AC8816A5-7FA7-4099-877C-B329A916EEFD}"/>
              </a:ext>
            </a:extLst>
          </p:cNvPr>
          <p:cNvSpPr>
            <a:spLocks xmlns:a="http://schemas.openxmlformats.org/drawingml/2006/main" noGrp="1"/>
          </p:cNvSpPr>
          <p:nvPr/>
        </p:nvSpPr>
        <p:spPr>
          <a:xfrm xmlns:a="http://schemas.openxmlformats.org/drawingml/2006/main">
            <a:off x="685800" y="61436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BE7FF"/>
                </a:solidFill>
                <a:latin typeface="Helvetica Neue"/>
                <a:ea typeface="Helvetica Neue"/>
                <a:cs typeface="Helvetica Neue"/>
              </a:defRPr>
            </a:pPr>
            <a:r>
              <a:rPr sz="1800" b="0">
                <a:solidFill>
                  <a:srgbClr val="5BE7FF"/>
                </a:solidFill>
                <a:latin typeface="Helvetica Neue"/>
                <a:ea typeface="Helvetica Neue"/>
                <a:cs typeface="Helvetica Neue"/>
              </a:rPr>
              <a:t>ZooWork × Tavily × Moss × BAND</a:t>
            </a:r>
          </a:p>
        </p:txBody>
      </p:sp>
    </p:spTree>
    <p:extLst>
      <p:ext uri="{BB962C8B-B14F-4D97-AF65-F5344CB8AC3E}">
        <p14:creationId xmlns:p14="http://schemas.microsoft.com/office/powerpoint/2010/main" val="703168718"/>
      </p:ext>
    </p:extLst>
  </p:cSld>
</p:sld>
</file>

<file path=ppt/slides/slide2.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BC65CEE-0ADC-4077-A564-7141012FE9AA}"/>
              </a:ext>
            </a:extLst>
          </p:cNvPr>
          <p:cNvSpPr>
            <a:spLocks xmlns:a="http://schemas.openxmlformats.org/drawingml/2006/main" noGrp="1"/>
          </p:cNvSpPr>
          <p:nvPr/>
        </p:nvSpPr>
        <p:spPr>
          <a:xfrm xmlns:a="http://schemas.openxmlformats.org/drawingml/2006/main">
            <a:off x="609600" y="266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5BE7FF"/>
                </a:solidFill>
                <a:latin typeface="Helvetica Neue"/>
                <a:ea typeface="Helvetica Neue"/>
                <a:cs typeface="Helvetica Neue"/>
              </a:defRPr>
            </a:pPr>
            <a:r>
              <a:rPr sz="1350" b="1">
                <a:solidFill>
                  <a:srgbClr val="5BE7FF"/>
                </a:solidFill>
                <a:latin typeface="Helvetica Neue"/>
                <a:ea typeface="Helvetica Neue"/>
                <a:cs typeface="Helvetica Neue"/>
              </a:rPr>
              <a:t>FINDWISE</a:t>
            </a:r>
          </a:p>
        </p:txBody>
      </p:sp>
      <p:sp>
        <p:nvSpPr>
          <p:cNvPr id="2" name="">
            <a:extLst xmlns:a="http://schemas.openxmlformats.org/drawingml/2006/main">
              <a:ext uri="{FF2B5EF4-FFF2-40B4-BE49-F238E27FC236}">
                <a16:creationId xmlns:a16="http://schemas.microsoft.com/office/drawing/2014/main" id="{13D301C5-E59C-45BB-BA27-9D95103219AE}"/>
              </a:ext>
            </a:extLst>
          </p:cNvPr>
          <p:cNvSpPr>
            <a:spLocks xmlns:a="http://schemas.openxmlformats.org/drawingml/2006/main" noGrp="1"/>
          </p:cNvSpPr>
          <p:nvPr/>
        </p:nvSpPr>
        <p:spPr>
          <a:xfrm xmlns:a="http://schemas.openxmlformats.org/drawingml/2006/main">
            <a:off x="10668000" y="2667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94A6BF"/>
                </a:solidFill>
                <a:latin typeface="Helvetica Neue"/>
                <a:ea typeface="Helvetica Neue"/>
                <a:cs typeface="Helvetica Neue"/>
              </a:defRPr>
            </a:pPr>
            <a:r>
              <a:rPr sz="1350" b="0">
                <a:solidFill>
                  <a:srgbClr val="94A6BF"/>
                </a:solidFill>
                <a:latin typeface="Helvetica Neue"/>
                <a:ea typeface="Helvetica Neue"/>
                <a:cs typeface="Helvetica Neue"/>
              </a:rPr>
              <a:t>02 / 10</a:t>
            </a:r>
          </a:p>
        </p:txBody>
      </p:sp>
      <p:sp>
        <p:nvSpPr>
          <p:cNvPr id="3" name="">
            <a:extLst xmlns:a="http://schemas.openxmlformats.org/drawingml/2006/main">
              <a:ext uri="{FF2B5EF4-FFF2-40B4-BE49-F238E27FC236}">
                <a16:creationId xmlns:a16="http://schemas.microsoft.com/office/drawing/2014/main" id="{19CA15CC-7E33-46F6-8138-5E5EEDD0191B}"/>
              </a:ext>
            </a:extLst>
          </p:cNvPr>
          <p:cNvSpPr>
            <a:spLocks xmlns:a="http://schemas.openxmlformats.org/drawingml/2006/main" noGrp="1"/>
          </p:cNvSpPr>
          <p:nvPr/>
        </p:nvSpPr>
        <p:spPr>
          <a:xfrm xmlns:a="http://schemas.openxmlformats.org/drawingml/2006/main">
            <a:off x="609600" y="876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b="1">
                <a:solidFill>
                  <a:srgbClr val="F4F8FF"/>
                </a:solidFill>
                <a:latin typeface="Helvetica Neue"/>
                <a:ea typeface="Helvetica Neue"/>
                <a:cs typeface="Helvetica Neue"/>
              </a:defRPr>
            </a:pPr>
            <a:r>
              <a:rPr sz="4050" b="1">
                <a:solidFill>
                  <a:srgbClr val="F4F8FF"/>
                </a:solidFill>
                <a:latin typeface="Helvetica Neue"/>
                <a:ea typeface="Helvetica Neue"/>
                <a:cs typeface="Helvetica Neue"/>
              </a:rPr>
              <a:t>Every decision starts from zero</a:t>
            </a:r>
          </a:p>
        </p:txBody>
      </p:sp>
      <p:sp>
        <p:nvSpPr>
          <p:cNvPr id="4" name="">
            <a:extLst xmlns:a="http://schemas.openxmlformats.org/drawingml/2006/main">
              <a:ext uri="{FF2B5EF4-FFF2-40B4-BE49-F238E27FC236}">
                <a16:creationId xmlns:a16="http://schemas.microsoft.com/office/drawing/2014/main" id="{9B288532-9EF0-47FA-BB3D-ACC4FC426A16}"/>
              </a:ext>
            </a:extLst>
          </p:cNvPr>
          <p:cNvSpPr>
            <a:spLocks xmlns:a="http://schemas.openxmlformats.org/drawingml/2006/main" noGrp="1"/>
          </p:cNvSpPr>
          <p:nvPr/>
        </p:nvSpPr>
        <p:spPr>
          <a:xfrm xmlns:a="http://schemas.openxmlformats.org/drawingml/2006/main">
            <a:off x="609600" y="2238375"/>
            <a:ext cx="2609850" cy="2667000"/>
          </a:xfrm>
          <a:prstGeom xmlns:a="http://schemas.openxmlformats.org/drawingml/2006/main" prst="roundRect">
            <a:avLst>
              <a:gd name="adj" fmla="val 2920"/>
            </a:avLst>
          </a:prstGeom>
          <a:solidFill xmlns:a="http://schemas.openxmlformats.org/drawingml/2006/main">
            <a:srgbClr val="141D2B"/>
          </a:solidFill>
          <a:ln xmlns:a="http://schemas.openxmlformats.org/drawingml/2006/main" w="9525">
            <a:solidFill>
              <a:srgbClr val="29384E"/>
            </a:solidFill>
          </a:ln>
        </p:spPr>
      </p:sp>
      <p:sp>
        <p:nvSpPr>
          <p:cNvPr id="5" name="">
            <a:extLst xmlns:a="http://schemas.openxmlformats.org/drawingml/2006/main">
              <a:ext uri="{FF2B5EF4-FFF2-40B4-BE49-F238E27FC236}">
                <a16:creationId xmlns:a16="http://schemas.microsoft.com/office/drawing/2014/main" id="{1D802C1D-FF86-4373-B493-224E59C9D9C1}"/>
              </a:ext>
            </a:extLst>
          </p:cNvPr>
          <p:cNvSpPr>
            <a:spLocks xmlns:a="http://schemas.openxmlformats.org/drawingml/2006/main" noGrp="1"/>
          </p:cNvSpPr>
          <p:nvPr/>
        </p:nvSpPr>
        <p:spPr>
          <a:xfrm xmlns:a="http://schemas.openxmlformats.org/drawingml/2006/main">
            <a:off x="819150" y="2476500"/>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F4F8FF"/>
                </a:solidFill>
                <a:latin typeface="Helvetica Neue"/>
                <a:ea typeface="Helvetica Neue"/>
                <a:cs typeface="Helvetica Neue"/>
              </a:defRPr>
            </a:pPr>
            <a:r>
              <a:rPr sz="2325" b="1">
                <a:solidFill>
                  <a:srgbClr val="F4F8FF"/>
                </a:solidFill>
                <a:latin typeface="Helvetica Neue"/>
                <a:ea typeface="Helvetica Neue"/>
                <a:cs typeface="Helvetica Neue"/>
              </a:rPr>
              <a:t>Backpack</a:t>
            </a:r>
          </a:p>
        </p:txBody>
      </p:sp>
      <p:sp>
        <p:nvSpPr>
          <p:cNvPr id="6" name="">
            <a:extLst xmlns:a="http://schemas.openxmlformats.org/drawingml/2006/main">
              <a:ext uri="{FF2B5EF4-FFF2-40B4-BE49-F238E27FC236}">
                <a16:creationId xmlns:a16="http://schemas.microsoft.com/office/drawing/2014/main" id="{972B5C7E-AE01-4EE1-8475-43FF03E34ACB}"/>
              </a:ext>
            </a:extLst>
          </p:cNvPr>
          <p:cNvSpPr>
            <a:spLocks xmlns:a="http://schemas.openxmlformats.org/drawingml/2006/main" noGrp="1"/>
          </p:cNvSpPr>
          <p:nvPr/>
        </p:nvSpPr>
        <p:spPr>
          <a:xfrm xmlns:a="http://schemas.openxmlformats.org/drawingml/2006/main">
            <a:off x="819150" y="3114675"/>
            <a:ext cx="2190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FILTERS</a:t>
            </a:r>
          </a:p>
          <a:p xmlns:a="http://schemas.openxmlformats.org/drawingml/2006/main">
            <a:r>
              <a:t/>
            </a:r>
          </a:p>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Price</a:t>
            </a:r>
          </a:p>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Rating</a:t>
            </a:r>
          </a:p>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Distance</a:t>
            </a:r>
          </a:p>
        </p:txBody>
      </p:sp>
      <p:sp>
        <p:nvSpPr>
          <p:cNvPr id="7" name="">
            <a:extLst xmlns:a="http://schemas.openxmlformats.org/drawingml/2006/main">
              <a:ext uri="{FF2B5EF4-FFF2-40B4-BE49-F238E27FC236}">
                <a16:creationId xmlns:a16="http://schemas.microsoft.com/office/drawing/2014/main" id="{B53A90B4-6DF7-4134-9F6D-739269B7F078}"/>
              </a:ext>
            </a:extLst>
          </p:cNvPr>
          <p:cNvSpPr>
            <a:spLocks xmlns:a="http://schemas.openxmlformats.org/drawingml/2006/main" noGrp="1"/>
          </p:cNvSpPr>
          <p:nvPr/>
        </p:nvSpPr>
        <p:spPr>
          <a:xfrm xmlns:a="http://schemas.openxmlformats.org/drawingml/2006/main">
            <a:off x="2552700" y="4305300"/>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F7387"/>
                </a:solidFill>
                <a:latin typeface="Helvetica Neue"/>
                <a:ea typeface="Helvetica Neue"/>
                <a:cs typeface="Helvetica Neue"/>
              </a:defRPr>
            </a:pPr>
            <a:r>
              <a:rPr sz="3300" b="1">
                <a:solidFill>
                  <a:srgbClr val="FF7387"/>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4B01664F-9B1D-41E6-954C-9B18600CF384}"/>
              </a:ext>
            </a:extLst>
          </p:cNvPr>
          <p:cNvSpPr>
            <a:spLocks xmlns:a="http://schemas.openxmlformats.org/drawingml/2006/main" noGrp="1"/>
          </p:cNvSpPr>
          <p:nvPr/>
        </p:nvSpPr>
        <p:spPr>
          <a:xfrm xmlns:a="http://schemas.openxmlformats.org/drawingml/2006/main">
            <a:off x="3400425" y="2238375"/>
            <a:ext cx="2609850" cy="2667000"/>
          </a:xfrm>
          <a:prstGeom xmlns:a="http://schemas.openxmlformats.org/drawingml/2006/main" prst="roundRect">
            <a:avLst>
              <a:gd name="adj" fmla="val 2920"/>
            </a:avLst>
          </a:prstGeom>
          <a:solidFill xmlns:a="http://schemas.openxmlformats.org/drawingml/2006/main">
            <a:srgbClr val="141D2B"/>
          </a:solidFill>
          <a:ln xmlns:a="http://schemas.openxmlformats.org/drawingml/2006/main" w="9525">
            <a:solidFill>
              <a:srgbClr val="29384E"/>
            </a:solidFill>
          </a:ln>
        </p:spPr>
      </p:sp>
      <p:sp>
        <p:nvSpPr>
          <p:cNvPr id="9" name="">
            <a:extLst xmlns:a="http://schemas.openxmlformats.org/drawingml/2006/main">
              <a:ext uri="{FF2B5EF4-FFF2-40B4-BE49-F238E27FC236}">
                <a16:creationId xmlns:a16="http://schemas.microsoft.com/office/drawing/2014/main" id="{8195F7F6-F9DE-4C0A-9521-F681E74B7C1F}"/>
              </a:ext>
            </a:extLst>
          </p:cNvPr>
          <p:cNvSpPr>
            <a:spLocks xmlns:a="http://schemas.openxmlformats.org/drawingml/2006/main" noGrp="1"/>
          </p:cNvSpPr>
          <p:nvPr/>
        </p:nvSpPr>
        <p:spPr>
          <a:xfrm xmlns:a="http://schemas.openxmlformats.org/drawingml/2006/main">
            <a:off x="3609975" y="2476500"/>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F4F8FF"/>
                </a:solidFill>
                <a:latin typeface="Helvetica Neue"/>
                <a:ea typeface="Helvetica Neue"/>
                <a:cs typeface="Helvetica Neue"/>
              </a:defRPr>
            </a:pPr>
            <a:r>
              <a:rPr sz="2325" b="1">
                <a:solidFill>
                  <a:srgbClr val="F4F8FF"/>
                </a:solidFill>
                <a:latin typeface="Helvetica Neue"/>
                <a:ea typeface="Helvetica Neue"/>
                <a:cs typeface="Helvetica Neue"/>
              </a:rPr>
              <a:t>Hotel</a:t>
            </a:r>
          </a:p>
        </p:txBody>
      </p:sp>
      <p:sp>
        <p:nvSpPr>
          <p:cNvPr id="10" name="">
            <a:extLst xmlns:a="http://schemas.openxmlformats.org/drawingml/2006/main">
              <a:ext uri="{FF2B5EF4-FFF2-40B4-BE49-F238E27FC236}">
                <a16:creationId xmlns:a16="http://schemas.microsoft.com/office/drawing/2014/main" id="{DF6B628F-BC61-4814-B1F8-6FA2EDC15850}"/>
              </a:ext>
            </a:extLst>
          </p:cNvPr>
          <p:cNvSpPr>
            <a:spLocks xmlns:a="http://schemas.openxmlformats.org/drawingml/2006/main" noGrp="1"/>
          </p:cNvSpPr>
          <p:nvPr/>
        </p:nvSpPr>
        <p:spPr>
          <a:xfrm xmlns:a="http://schemas.openxmlformats.org/drawingml/2006/main">
            <a:off x="3609975" y="3114675"/>
            <a:ext cx="2190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FILTERS</a:t>
            </a:r>
          </a:p>
          <a:p xmlns:a="http://schemas.openxmlformats.org/drawingml/2006/main">
            <a:r>
              <a:t/>
            </a:r>
          </a:p>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Price</a:t>
            </a:r>
          </a:p>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Rating</a:t>
            </a:r>
          </a:p>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Distance</a:t>
            </a:r>
          </a:p>
        </p:txBody>
      </p:sp>
      <p:sp>
        <p:nvSpPr>
          <p:cNvPr id="11" name="">
            <a:extLst xmlns:a="http://schemas.openxmlformats.org/drawingml/2006/main">
              <a:ext uri="{FF2B5EF4-FFF2-40B4-BE49-F238E27FC236}">
                <a16:creationId xmlns:a16="http://schemas.microsoft.com/office/drawing/2014/main" id="{A87869D0-A60B-48F7-905C-39B62BACAC45}"/>
              </a:ext>
            </a:extLst>
          </p:cNvPr>
          <p:cNvSpPr>
            <a:spLocks xmlns:a="http://schemas.openxmlformats.org/drawingml/2006/main" noGrp="1"/>
          </p:cNvSpPr>
          <p:nvPr/>
        </p:nvSpPr>
        <p:spPr>
          <a:xfrm xmlns:a="http://schemas.openxmlformats.org/drawingml/2006/main">
            <a:off x="5343525" y="4305300"/>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F7387"/>
                </a:solidFill>
                <a:latin typeface="Helvetica Neue"/>
                <a:ea typeface="Helvetica Neue"/>
                <a:cs typeface="Helvetica Neue"/>
              </a:defRPr>
            </a:pPr>
            <a:r>
              <a:rPr sz="3300" b="1">
                <a:solidFill>
                  <a:srgbClr val="FF7387"/>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8D0021FA-9680-4400-BE3F-D5D57BC2C4E0}"/>
              </a:ext>
            </a:extLst>
          </p:cNvPr>
          <p:cNvSpPr>
            <a:spLocks xmlns:a="http://schemas.openxmlformats.org/drawingml/2006/main" noGrp="1"/>
          </p:cNvSpPr>
          <p:nvPr/>
        </p:nvSpPr>
        <p:spPr>
          <a:xfrm xmlns:a="http://schemas.openxmlformats.org/drawingml/2006/main">
            <a:off x="6191250" y="2238375"/>
            <a:ext cx="2609850" cy="2667000"/>
          </a:xfrm>
          <a:prstGeom xmlns:a="http://schemas.openxmlformats.org/drawingml/2006/main" prst="roundRect">
            <a:avLst>
              <a:gd name="adj" fmla="val 2920"/>
            </a:avLst>
          </a:prstGeom>
          <a:solidFill xmlns:a="http://schemas.openxmlformats.org/drawingml/2006/main">
            <a:srgbClr val="141D2B"/>
          </a:solidFill>
          <a:ln xmlns:a="http://schemas.openxmlformats.org/drawingml/2006/main" w="9525">
            <a:solidFill>
              <a:srgbClr val="29384E"/>
            </a:solidFill>
          </a:ln>
        </p:spPr>
      </p:sp>
      <p:sp>
        <p:nvSpPr>
          <p:cNvPr id="13" name="">
            <a:extLst xmlns:a="http://schemas.openxmlformats.org/drawingml/2006/main">
              <a:ext uri="{FF2B5EF4-FFF2-40B4-BE49-F238E27FC236}">
                <a16:creationId xmlns:a16="http://schemas.microsoft.com/office/drawing/2014/main" id="{B77B9CC2-A1A1-4322-8850-E5D1768CAF77}"/>
              </a:ext>
            </a:extLst>
          </p:cNvPr>
          <p:cNvSpPr>
            <a:spLocks xmlns:a="http://schemas.openxmlformats.org/drawingml/2006/main" noGrp="1"/>
          </p:cNvSpPr>
          <p:nvPr/>
        </p:nvSpPr>
        <p:spPr>
          <a:xfrm xmlns:a="http://schemas.openxmlformats.org/drawingml/2006/main">
            <a:off x="6400800" y="2476500"/>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F4F8FF"/>
                </a:solidFill>
                <a:latin typeface="Helvetica Neue"/>
                <a:ea typeface="Helvetica Neue"/>
                <a:cs typeface="Helvetica Neue"/>
              </a:defRPr>
            </a:pPr>
            <a:r>
              <a:rPr sz="2325" b="1">
                <a:solidFill>
                  <a:srgbClr val="F4F8FF"/>
                </a:solidFill>
                <a:latin typeface="Helvetica Neue"/>
                <a:ea typeface="Helvetica Neue"/>
                <a:cs typeface="Helvetica Neue"/>
              </a:rPr>
              <a:t>Apartment</a:t>
            </a:r>
          </a:p>
        </p:txBody>
      </p:sp>
      <p:sp>
        <p:nvSpPr>
          <p:cNvPr id="14" name="">
            <a:extLst xmlns:a="http://schemas.openxmlformats.org/drawingml/2006/main">
              <a:ext uri="{FF2B5EF4-FFF2-40B4-BE49-F238E27FC236}">
                <a16:creationId xmlns:a16="http://schemas.microsoft.com/office/drawing/2014/main" id="{1FE52992-E492-49F6-B5FF-5976E43EA29E}"/>
              </a:ext>
            </a:extLst>
          </p:cNvPr>
          <p:cNvSpPr>
            <a:spLocks xmlns:a="http://schemas.openxmlformats.org/drawingml/2006/main" noGrp="1"/>
          </p:cNvSpPr>
          <p:nvPr/>
        </p:nvSpPr>
        <p:spPr>
          <a:xfrm xmlns:a="http://schemas.openxmlformats.org/drawingml/2006/main">
            <a:off x="6400800" y="3114675"/>
            <a:ext cx="2190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FILTERS</a:t>
            </a:r>
          </a:p>
          <a:p xmlns:a="http://schemas.openxmlformats.org/drawingml/2006/main">
            <a:r>
              <a:t/>
            </a:r>
          </a:p>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Price</a:t>
            </a:r>
          </a:p>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Rating</a:t>
            </a:r>
          </a:p>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Distance</a:t>
            </a:r>
          </a:p>
        </p:txBody>
      </p:sp>
      <p:sp>
        <p:nvSpPr>
          <p:cNvPr id="15" name="">
            <a:extLst xmlns:a="http://schemas.openxmlformats.org/drawingml/2006/main">
              <a:ext uri="{FF2B5EF4-FFF2-40B4-BE49-F238E27FC236}">
                <a16:creationId xmlns:a16="http://schemas.microsoft.com/office/drawing/2014/main" id="{B93B9842-03CC-4EE2-9D32-D543A4E329A3}"/>
              </a:ext>
            </a:extLst>
          </p:cNvPr>
          <p:cNvSpPr>
            <a:spLocks xmlns:a="http://schemas.openxmlformats.org/drawingml/2006/main" noGrp="1"/>
          </p:cNvSpPr>
          <p:nvPr/>
        </p:nvSpPr>
        <p:spPr>
          <a:xfrm xmlns:a="http://schemas.openxmlformats.org/drawingml/2006/main">
            <a:off x="8134350" y="4305300"/>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F7387"/>
                </a:solidFill>
                <a:latin typeface="Helvetica Neue"/>
                <a:ea typeface="Helvetica Neue"/>
                <a:cs typeface="Helvetica Neue"/>
              </a:defRPr>
            </a:pPr>
            <a:r>
              <a:rPr sz="3300" b="1">
                <a:solidFill>
                  <a:srgbClr val="FF7387"/>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775BEB43-AAFE-4EE0-80D6-C4D1515DB593}"/>
              </a:ext>
            </a:extLst>
          </p:cNvPr>
          <p:cNvSpPr>
            <a:spLocks xmlns:a="http://schemas.openxmlformats.org/drawingml/2006/main" noGrp="1"/>
          </p:cNvSpPr>
          <p:nvPr/>
        </p:nvSpPr>
        <p:spPr>
          <a:xfrm xmlns:a="http://schemas.openxmlformats.org/drawingml/2006/main">
            <a:off x="8982075" y="2238375"/>
            <a:ext cx="2609850" cy="2667000"/>
          </a:xfrm>
          <a:prstGeom xmlns:a="http://schemas.openxmlformats.org/drawingml/2006/main" prst="roundRect">
            <a:avLst>
              <a:gd name="adj" fmla="val 2920"/>
            </a:avLst>
          </a:prstGeom>
          <a:solidFill xmlns:a="http://schemas.openxmlformats.org/drawingml/2006/main">
            <a:srgbClr val="141D2B"/>
          </a:solidFill>
          <a:ln xmlns:a="http://schemas.openxmlformats.org/drawingml/2006/main" w="9525">
            <a:solidFill>
              <a:srgbClr val="29384E"/>
            </a:solidFill>
          </a:ln>
        </p:spPr>
      </p:sp>
      <p:sp>
        <p:nvSpPr>
          <p:cNvPr id="17" name="">
            <a:extLst xmlns:a="http://schemas.openxmlformats.org/drawingml/2006/main">
              <a:ext uri="{FF2B5EF4-FFF2-40B4-BE49-F238E27FC236}">
                <a16:creationId xmlns:a16="http://schemas.microsoft.com/office/drawing/2014/main" id="{205743D8-7ADF-47CE-83E1-FBF62705F698}"/>
              </a:ext>
            </a:extLst>
          </p:cNvPr>
          <p:cNvSpPr>
            <a:spLocks xmlns:a="http://schemas.openxmlformats.org/drawingml/2006/main" noGrp="1"/>
          </p:cNvSpPr>
          <p:nvPr/>
        </p:nvSpPr>
        <p:spPr>
          <a:xfrm xmlns:a="http://schemas.openxmlformats.org/drawingml/2006/main">
            <a:off x="9191625" y="2476500"/>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F4F8FF"/>
                </a:solidFill>
                <a:latin typeface="Helvetica Neue"/>
                <a:ea typeface="Helvetica Neue"/>
                <a:cs typeface="Helvetica Neue"/>
              </a:defRPr>
            </a:pPr>
            <a:r>
              <a:rPr sz="2325" b="1">
                <a:solidFill>
                  <a:srgbClr val="F4F8FF"/>
                </a:solidFill>
                <a:latin typeface="Helvetica Neue"/>
                <a:ea typeface="Helvetica Neue"/>
                <a:cs typeface="Helvetica Neue"/>
              </a:rPr>
              <a:t>Accountant</a:t>
            </a:r>
          </a:p>
        </p:txBody>
      </p:sp>
      <p:sp>
        <p:nvSpPr>
          <p:cNvPr id="18" name="">
            <a:extLst xmlns:a="http://schemas.openxmlformats.org/drawingml/2006/main">
              <a:ext uri="{FF2B5EF4-FFF2-40B4-BE49-F238E27FC236}">
                <a16:creationId xmlns:a16="http://schemas.microsoft.com/office/drawing/2014/main" id="{75B8E825-6D4F-4BDD-B3A4-88ED3537A8DF}"/>
              </a:ext>
            </a:extLst>
          </p:cNvPr>
          <p:cNvSpPr>
            <a:spLocks xmlns:a="http://schemas.openxmlformats.org/drawingml/2006/main" noGrp="1"/>
          </p:cNvSpPr>
          <p:nvPr/>
        </p:nvSpPr>
        <p:spPr>
          <a:xfrm xmlns:a="http://schemas.openxmlformats.org/drawingml/2006/main">
            <a:off x="9191625" y="3114675"/>
            <a:ext cx="2190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FILTERS</a:t>
            </a:r>
          </a:p>
          <a:p xmlns:a="http://schemas.openxmlformats.org/drawingml/2006/main">
            <a:r>
              <a:t/>
            </a:r>
          </a:p>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Price</a:t>
            </a:r>
          </a:p>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Rating</a:t>
            </a:r>
          </a:p>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Distance</a:t>
            </a:r>
          </a:p>
        </p:txBody>
      </p:sp>
      <p:sp>
        <p:nvSpPr>
          <p:cNvPr id="19" name="">
            <a:extLst xmlns:a="http://schemas.openxmlformats.org/drawingml/2006/main">
              <a:ext uri="{FF2B5EF4-FFF2-40B4-BE49-F238E27FC236}">
                <a16:creationId xmlns:a16="http://schemas.microsoft.com/office/drawing/2014/main" id="{FA99D631-4EFC-4452-8CE9-5391885DC56D}"/>
              </a:ext>
            </a:extLst>
          </p:cNvPr>
          <p:cNvSpPr>
            <a:spLocks xmlns:a="http://schemas.openxmlformats.org/drawingml/2006/main" noGrp="1"/>
          </p:cNvSpPr>
          <p:nvPr/>
        </p:nvSpPr>
        <p:spPr>
          <a:xfrm xmlns:a="http://schemas.openxmlformats.org/drawingml/2006/main">
            <a:off x="10925175" y="4305300"/>
            <a:ext cx="47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F7387"/>
                </a:solidFill>
                <a:latin typeface="Helvetica Neue"/>
                <a:ea typeface="Helvetica Neue"/>
                <a:cs typeface="Helvetica Neue"/>
              </a:defRPr>
            </a:pPr>
            <a:r>
              <a:rPr sz="3300" b="1">
                <a:solidFill>
                  <a:srgbClr val="FF7387"/>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315643F9-0C8F-4C24-9831-80632EF68E07}"/>
              </a:ext>
            </a:extLst>
          </p:cNvPr>
          <p:cNvSpPr>
            <a:spLocks xmlns:a="http://schemas.openxmlformats.org/drawingml/2006/main" noGrp="1"/>
          </p:cNvSpPr>
          <p:nvPr/>
        </p:nvSpPr>
        <p:spPr>
          <a:xfrm xmlns:a="http://schemas.openxmlformats.org/drawingml/2006/main">
            <a:off x="609600" y="54483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500" b="1">
                <a:solidFill>
                  <a:srgbClr val="5BE7FF"/>
                </a:solidFill>
                <a:latin typeface="Helvetica Neue"/>
                <a:ea typeface="Helvetica Neue"/>
                <a:cs typeface="Helvetica Neue"/>
              </a:defRPr>
            </a:pPr>
            <a:r>
              <a:rPr sz="4500" b="1">
                <a:solidFill>
                  <a:srgbClr val="5BE7FF"/>
                </a:solidFill>
                <a:latin typeface="Helvetica Neue"/>
                <a:ea typeface="Helvetica Neue"/>
                <a:cs typeface="Helvetica Neue"/>
              </a:rPr>
              <a:t>None of them know you.</a:t>
            </a:r>
          </a:p>
        </p:txBody>
      </p:sp>
    </p:spTree>
    <p:extLst>
      <p:ext uri="{BB962C8B-B14F-4D97-AF65-F5344CB8AC3E}">
        <p14:creationId xmlns:p14="http://schemas.microsoft.com/office/powerpoint/2010/main" val="1629549693"/>
      </p:ext>
    </p:extLst>
  </p:cSld>
</p:sld>
</file>

<file path=ppt/slides/slide3.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0D3C60E-4EAC-40DE-A5A9-4C485FA3877C}"/>
              </a:ext>
            </a:extLst>
          </p:cNvPr>
          <p:cNvSpPr>
            <a:spLocks xmlns:a="http://schemas.openxmlformats.org/drawingml/2006/main" noGrp="1"/>
          </p:cNvSpPr>
          <p:nvPr/>
        </p:nvSpPr>
        <p:spPr>
          <a:xfrm xmlns:a="http://schemas.openxmlformats.org/drawingml/2006/main">
            <a:off x="609600" y="266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5BE7FF"/>
                </a:solidFill>
                <a:latin typeface="Helvetica Neue"/>
                <a:ea typeface="Helvetica Neue"/>
                <a:cs typeface="Helvetica Neue"/>
              </a:defRPr>
            </a:pPr>
            <a:r>
              <a:rPr sz="1350" b="1">
                <a:solidFill>
                  <a:srgbClr val="5BE7FF"/>
                </a:solidFill>
                <a:latin typeface="Helvetica Neue"/>
                <a:ea typeface="Helvetica Neue"/>
                <a:cs typeface="Helvetica Neue"/>
              </a:rPr>
              <a:t>FINDWISE</a:t>
            </a:r>
          </a:p>
        </p:txBody>
      </p:sp>
      <p:sp>
        <p:nvSpPr>
          <p:cNvPr id="2" name="">
            <a:extLst xmlns:a="http://schemas.openxmlformats.org/drawingml/2006/main">
              <a:ext uri="{FF2B5EF4-FFF2-40B4-BE49-F238E27FC236}">
                <a16:creationId xmlns:a16="http://schemas.microsoft.com/office/drawing/2014/main" id="{2C54D8C4-9411-413F-826B-C33654463160}"/>
              </a:ext>
            </a:extLst>
          </p:cNvPr>
          <p:cNvSpPr>
            <a:spLocks xmlns:a="http://schemas.openxmlformats.org/drawingml/2006/main" noGrp="1"/>
          </p:cNvSpPr>
          <p:nvPr/>
        </p:nvSpPr>
        <p:spPr>
          <a:xfrm xmlns:a="http://schemas.openxmlformats.org/drawingml/2006/main">
            <a:off x="10668000" y="2667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94A6BF"/>
                </a:solidFill>
                <a:latin typeface="Helvetica Neue"/>
                <a:ea typeface="Helvetica Neue"/>
                <a:cs typeface="Helvetica Neue"/>
              </a:defRPr>
            </a:pPr>
            <a:r>
              <a:rPr sz="1350" b="0">
                <a:solidFill>
                  <a:srgbClr val="94A6BF"/>
                </a:solidFill>
                <a:latin typeface="Helvetica Neue"/>
                <a:ea typeface="Helvetica Neue"/>
                <a:cs typeface="Helvetica Neue"/>
              </a:rPr>
              <a:t>03 / 10</a:t>
            </a:r>
          </a:p>
        </p:txBody>
      </p:sp>
      <p:sp>
        <p:nvSpPr>
          <p:cNvPr id="3" name="">
            <a:extLst xmlns:a="http://schemas.openxmlformats.org/drawingml/2006/main">
              <a:ext uri="{FF2B5EF4-FFF2-40B4-BE49-F238E27FC236}">
                <a16:creationId xmlns:a16="http://schemas.microsoft.com/office/drawing/2014/main" id="{F50C22CE-66BA-42B4-9355-C4FC943A19D0}"/>
              </a:ext>
            </a:extLst>
          </p:cNvPr>
          <p:cNvSpPr>
            <a:spLocks xmlns:a="http://schemas.openxmlformats.org/drawingml/2006/main" noGrp="1"/>
          </p:cNvSpPr>
          <p:nvPr/>
        </p:nvSpPr>
        <p:spPr>
          <a:xfrm xmlns:a="http://schemas.openxmlformats.org/drawingml/2006/main">
            <a:off x="609600" y="876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b="1">
                <a:solidFill>
                  <a:srgbClr val="F4F8FF"/>
                </a:solidFill>
                <a:latin typeface="Helvetica Neue"/>
                <a:ea typeface="Helvetica Neue"/>
                <a:cs typeface="Helvetica Neue"/>
              </a:defRPr>
            </a:pPr>
            <a:r>
              <a:rPr sz="4050" b="1">
                <a:solidFill>
                  <a:srgbClr val="F4F8FF"/>
                </a:solidFill>
                <a:latin typeface="Helvetica Neue"/>
                <a:ea typeface="Helvetica Neue"/>
                <a:cs typeface="Helvetica Neue"/>
              </a:rPr>
              <a:t>Taste DNA</a:t>
            </a:r>
          </a:p>
        </p:txBody>
      </p:sp>
      <p:sp>
        <p:nvSpPr>
          <p:cNvPr id="4" name="">
            <a:extLst xmlns:a="http://schemas.openxmlformats.org/drawingml/2006/main">
              <a:ext uri="{FF2B5EF4-FFF2-40B4-BE49-F238E27FC236}">
                <a16:creationId xmlns:a16="http://schemas.microsoft.com/office/drawing/2014/main" id="{E83F0F3F-74F1-4BAC-9955-4ED1BF05C5ED}"/>
              </a:ext>
            </a:extLst>
          </p:cNvPr>
          <p:cNvSpPr>
            <a:spLocks xmlns:a="http://schemas.openxmlformats.org/drawingml/2006/main" noGrp="1"/>
          </p:cNvSpPr>
          <p:nvPr/>
        </p:nvSpPr>
        <p:spPr>
          <a:xfrm xmlns:a="http://schemas.openxmlformats.org/drawingml/2006/main">
            <a:off x="609600" y="2076450"/>
            <a:ext cx="6953250" cy="3743325"/>
          </a:xfrm>
          <a:prstGeom xmlns:a="http://schemas.openxmlformats.org/drawingml/2006/main" prst="roundRect">
            <a:avLst>
              <a:gd name="adj" fmla="val 2036"/>
            </a:avLst>
          </a:prstGeom>
          <a:solidFill xmlns:a="http://schemas.openxmlformats.org/drawingml/2006/main">
            <a:srgbClr val="141D2B"/>
          </a:solidFill>
          <a:ln xmlns:a="http://schemas.openxmlformats.org/drawingml/2006/main" w="9525">
            <a:solidFill>
              <a:srgbClr val="29384E"/>
            </a:solidFill>
          </a:ln>
        </p:spPr>
      </p:sp>
      <p:sp>
        <p:nvSpPr>
          <p:cNvPr id="5" name="">
            <a:extLst xmlns:a="http://schemas.openxmlformats.org/drawingml/2006/main">
              <a:ext uri="{FF2B5EF4-FFF2-40B4-BE49-F238E27FC236}">
                <a16:creationId xmlns:a16="http://schemas.microsoft.com/office/drawing/2014/main" id="{89D09053-3903-4FAC-A81B-E0F299058E4A}"/>
              </a:ext>
            </a:extLst>
          </p:cNvPr>
          <p:cNvSpPr>
            <a:spLocks xmlns:a="http://schemas.openxmlformats.org/drawingml/2006/main" noGrp="1"/>
          </p:cNvSpPr>
          <p:nvPr/>
        </p:nvSpPr>
        <p:spPr>
          <a:xfrm xmlns:a="http://schemas.openxmlformats.org/drawingml/2006/main">
            <a:off x="895350" y="2333625"/>
            <a:ext cx="571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5BE7FF"/>
                </a:solidFill>
                <a:latin typeface="Helvetica Neue"/>
                <a:ea typeface="Helvetica Neue"/>
                <a:cs typeface="Helvetica Neue"/>
              </a:defRPr>
            </a:pPr>
            <a:r>
              <a:rPr sz="1800" b="1">
                <a:solidFill>
                  <a:srgbClr val="5BE7FF"/>
                </a:solidFill>
                <a:latin typeface="Helvetica Neue"/>
                <a:ea typeface="Helvetica Neue"/>
                <a:cs typeface="Helvetica Neue"/>
              </a:rPr>
              <a:t>YOUR PROFILE</a:t>
            </a:r>
          </a:p>
        </p:txBody>
      </p:sp>
      <p:sp>
        <p:nvSpPr>
          <p:cNvPr id="6" name="">
            <a:extLst xmlns:a="http://schemas.openxmlformats.org/drawingml/2006/main">
              <a:ext uri="{FF2B5EF4-FFF2-40B4-BE49-F238E27FC236}">
                <a16:creationId xmlns:a16="http://schemas.microsoft.com/office/drawing/2014/main" id="{138DF35C-1DB5-49AB-86BD-44E2FA92004D}"/>
              </a:ext>
            </a:extLst>
          </p:cNvPr>
          <p:cNvSpPr>
            <a:spLocks xmlns:a="http://schemas.openxmlformats.org/drawingml/2006/main" noGrp="1"/>
          </p:cNvSpPr>
          <p:nvPr/>
        </p:nvSpPr>
        <p:spPr>
          <a:xfrm xmlns:a="http://schemas.openxmlformats.org/drawingml/2006/main">
            <a:off x="904875" y="291465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4F8FF"/>
                </a:solidFill>
                <a:latin typeface="Helvetica Neue"/>
                <a:ea typeface="Helvetica Neue"/>
                <a:cs typeface="Helvetica Neue"/>
              </a:defRPr>
            </a:pPr>
            <a:r>
              <a:rPr sz="1875" b="0">
                <a:solidFill>
                  <a:srgbClr val="F4F8FF"/>
                </a:solidFill>
                <a:latin typeface="Helvetica Neue"/>
                <a:ea typeface="Helvetica Neue"/>
                <a:cs typeface="Helvetica Neue"/>
              </a:rPr>
              <a:t>Minimalism</a:t>
            </a:r>
          </a:p>
        </p:txBody>
      </p:sp>
      <p:sp>
        <p:nvSpPr>
          <p:cNvPr id="7" name="">
            <a:extLst xmlns:a="http://schemas.openxmlformats.org/drawingml/2006/main">
              <a:ext uri="{FF2B5EF4-FFF2-40B4-BE49-F238E27FC236}">
                <a16:creationId xmlns:a16="http://schemas.microsoft.com/office/drawing/2014/main" id="{DC384FF9-999D-4C11-A338-49B86DA8F30E}"/>
              </a:ext>
            </a:extLst>
          </p:cNvPr>
          <p:cNvSpPr>
            <a:spLocks xmlns:a="http://schemas.openxmlformats.org/drawingml/2006/main" noGrp="1"/>
          </p:cNvSpPr>
          <p:nvPr/>
        </p:nvSpPr>
        <p:spPr>
          <a:xfrm xmlns:a="http://schemas.openxmlformats.org/drawingml/2006/main">
            <a:off x="3257550" y="2962275"/>
            <a:ext cx="3905250" cy="190500"/>
          </a:xfrm>
          <a:prstGeom xmlns:a="http://schemas.openxmlformats.org/drawingml/2006/main" prst="roundRect">
            <a:avLst>
              <a:gd name="adj" fmla="val 40000"/>
            </a:avLst>
          </a:prstGeom>
          <a:solidFill xmlns:a="http://schemas.openxmlformats.org/drawingml/2006/main">
            <a:srgbClr val="233044"/>
          </a:solidFill>
          <a:ln xmlns:a="http://schemas.openxmlformats.org/drawingml/2006/main" w="9525">
            <a:solidFill>
              <a:srgbClr val="233044"/>
            </a:solidFill>
          </a:ln>
        </p:spPr>
      </p:sp>
      <p:sp>
        <p:nvSpPr>
          <p:cNvPr id="8" name="">
            <a:extLst xmlns:a="http://schemas.openxmlformats.org/drawingml/2006/main">
              <a:ext uri="{FF2B5EF4-FFF2-40B4-BE49-F238E27FC236}">
                <a16:creationId xmlns:a16="http://schemas.microsoft.com/office/drawing/2014/main" id="{575C9EA1-C7C5-4F9C-875D-806A9E2C780A}"/>
              </a:ext>
            </a:extLst>
          </p:cNvPr>
          <p:cNvSpPr>
            <a:spLocks xmlns:a="http://schemas.openxmlformats.org/drawingml/2006/main" noGrp="1"/>
          </p:cNvSpPr>
          <p:nvPr/>
        </p:nvSpPr>
        <p:spPr>
          <a:xfrm xmlns:a="http://schemas.openxmlformats.org/drawingml/2006/main">
            <a:off x="3257550" y="2962275"/>
            <a:ext cx="3553778" cy="190500"/>
          </a:xfrm>
          <a:prstGeom xmlns:a="http://schemas.openxmlformats.org/drawingml/2006/main" prst="roundRect">
            <a:avLst>
              <a:gd name="adj" fmla="val 40000"/>
            </a:avLst>
          </a:prstGeom>
          <a:solidFill xmlns:a="http://schemas.openxmlformats.org/drawingml/2006/main">
            <a:srgbClr val="5BE7FF"/>
          </a:solidFill>
          <a:ln xmlns:a="http://schemas.openxmlformats.org/drawingml/2006/main" w="9525">
            <a:solidFill>
              <a:srgbClr val="5BE7FF"/>
            </a:solidFill>
          </a:ln>
        </p:spPr>
      </p:sp>
      <p:sp>
        <p:nvSpPr>
          <p:cNvPr id="9" name="">
            <a:extLst xmlns:a="http://schemas.openxmlformats.org/drawingml/2006/main">
              <a:ext uri="{FF2B5EF4-FFF2-40B4-BE49-F238E27FC236}">
                <a16:creationId xmlns:a16="http://schemas.microsoft.com/office/drawing/2014/main" id="{37678B9E-3C96-4DA0-AFE6-B861BCBC4E1E}"/>
              </a:ext>
            </a:extLst>
          </p:cNvPr>
          <p:cNvSpPr>
            <a:spLocks xmlns:a="http://schemas.openxmlformats.org/drawingml/2006/main" noGrp="1"/>
          </p:cNvSpPr>
          <p:nvPr/>
        </p:nvSpPr>
        <p:spPr>
          <a:xfrm xmlns:a="http://schemas.openxmlformats.org/drawingml/2006/main">
            <a:off x="904875" y="3343275"/>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4F8FF"/>
                </a:solidFill>
                <a:latin typeface="Helvetica Neue"/>
                <a:ea typeface="Helvetica Neue"/>
                <a:cs typeface="Helvetica Neue"/>
              </a:defRPr>
            </a:pPr>
            <a:r>
              <a:rPr sz="1875" b="0">
                <a:solidFill>
                  <a:srgbClr val="F4F8FF"/>
                </a:solidFill>
                <a:latin typeface="Helvetica Neue"/>
                <a:ea typeface="Helvetica Neue"/>
                <a:cs typeface="Helvetica Neue"/>
              </a:rPr>
              <a:t>Quality</a:t>
            </a:r>
          </a:p>
        </p:txBody>
      </p:sp>
      <p:sp>
        <p:nvSpPr>
          <p:cNvPr id="10" name="">
            <a:extLst xmlns:a="http://schemas.openxmlformats.org/drawingml/2006/main">
              <a:ext uri="{FF2B5EF4-FFF2-40B4-BE49-F238E27FC236}">
                <a16:creationId xmlns:a16="http://schemas.microsoft.com/office/drawing/2014/main" id="{FCED0F5C-BAED-4B5C-A84A-382C877ECC34}"/>
              </a:ext>
            </a:extLst>
          </p:cNvPr>
          <p:cNvSpPr>
            <a:spLocks xmlns:a="http://schemas.openxmlformats.org/drawingml/2006/main" noGrp="1"/>
          </p:cNvSpPr>
          <p:nvPr/>
        </p:nvSpPr>
        <p:spPr>
          <a:xfrm xmlns:a="http://schemas.openxmlformats.org/drawingml/2006/main">
            <a:off x="3257550" y="3390900"/>
            <a:ext cx="3905250" cy="190500"/>
          </a:xfrm>
          <a:prstGeom xmlns:a="http://schemas.openxmlformats.org/drawingml/2006/main" prst="roundRect">
            <a:avLst>
              <a:gd name="adj" fmla="val 40000"/>
            </a:avLst>
          </a:prstGeom>
          <a:solidFill xmlns:a="http://schemas.openxmlformats.org/drawingml/2006/main">
            <a:srgbClr val="233044"/>
          </a:solidFill>
          <a:ln xmlns:a="http://schemas.openxmlformats.org/drawingml/2006/main" w="9525">
            <a:solidFill>
              <a:srgbClr val="233044"/>
            </a:solidFill>
          </a:ln>
        </p:spPr>
      </p:sp>
      <p:sp>
        <p:nvSpPr>
          <p:cNvPr id="11" name="">
            <a:extLst xmlns:a="http://schemas.openxmlformats.org/drawingml/2006/main">
              <a:ext uri="{FF2B5EF4-FFF2-40B4-BE49-F238E27FC236}">
                <a16:creationId xmlns:a16="http://schemas.microsoft.com/office/drawing/2014/main" id="{89CC4FB0-E8AE-424D-9EC8-3C4D370F9EB1}"/>
              </a:ext>
            </a:extLst>
          </p:cNvPr>
          <p:cNvSpPr>
            <a:spLocks xmlns:a="http://schemas.openxmlformats.org/drawingml/2006/main" noGrp="1"/>
          </p:cNvSpPr>
          <p:nvPr/>
        </p:nvSpPr>
        <p:spPr>
          <a:xfrm xmlns:a="http://schemas.openxmlformats.org/drawingml/2006/main">
            <a:off x="3257550" y="3390900"/>
            <a:ext cx="3436620" cy="190500"/>
          </a:xfrm>
          <a:prstGeom xmlns:a="http://schemas.openxmlformats.org/drawingml/2006/main" prst="roundRect">
            <a:avLst>
              <a:gd name="adj" fmla="val 40000"/>
            </a:avLst>
          </a:prstGeom>
          <a:solidFill xmlns:a="http://schemas.openxmlformats.org/drawingml/2006/main">
            <a:srgbClr val="5BE7FF"/>
          </a:solidFill>
          <a:ln xmlns:a="http://schemas.openxmlformats.org/drawingml/2006/main" w="9525">
            <a:solidFill>
              <a:srgbClr val="5BE7FF"/>
            </a:solidFill>
          </a:ln>
        </p:spPr>
      </p:sp>
      <p:sp>
        <p:nvSpPr>
          <p:cNvPr id="12" name="">
            <a:extLst xmlns:a="http://schemas.openxmlformats.org/drawingml/2006/main">
              <a:ext uri="{FF2B5EF4-FFF2-40B4-BE49-F238E27FC236}">
                <a16:creationId xmlns:a16="http://schemas.microsoft.com/office/drawing/2014/main" id="{92195DEB-3FAE-4FED-9C8F-95F7FE45AB1D}"/>
              </a:ext>
            </a:extLst>
          </p:cNvPr>
          <p:cNvSpPr>
            <a:spLocks xmlns:a="http://schemas.openxmlformats.org/drawingml/2006/main" noGrp="1"/>
          </p:cNvSpPr>
          <p:nvPr/>
        </p:nvSpPr>
        <p:spPr>
          <a:xfrm xmlns:a="http://schemas.openxmlformats.org/drawingml/2006/main">
            <a:off x="904875" y="377190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4F8FF"/>
                </a:solidFill>
                <a:latin typeface="Helvetica Neue"/>
                <a:ea typeface="Helvetica Neue"/>
                <a:cs typeface="Helvetica Neue"/>
              </a:defRPr>
            </a:pPr>
            <a:r>
              <a:rPr sz="1875" b="0">
                <a:solidFill>
                  <a:srgbClr val="F4F8FF"/>
                </a:solidFill>
                <a:latin typeface="Helvetica Neue"/>
                <a:ea typeface="Helvetica Neue"/>
                <a:cs typeface="Helvetica Neue"/>
              </a:rPr>
              <a:t>Durability</a:t>
            </a:r>
          </a:p>
        </p:txBody>
      </p:sp>
      <p:sp>
        <p:nvSpPr>
          <p:cNvPr id="13" name="">
            <a:extLst xmlns:a="http://schemas.openxmlformats.org/drawingml/2006/main">
              <a:ext uri="{FF2B5EF4-FFF2-40B4-BE49-F238E27FC236}">
                <a16:creationId xmlns:a16="http://schemas.microsoft.com/office/drawing/2014/main" id="{897A13B6-5A64-40F0-B711-019C2C729B6E}"/>
              </a:ext>
            </a:extLst>
          </p:cNvPr>
          <p:cNvSpPr>
            <a:spLocks xmlns:a="http://schemas.openxmlformats.org/drawingml/2006/main" noGrp="1"/>
          </p:cNvSpPr>
          <p:nvPr/>
        </p:nvSpPr>
        <p:spPr>
          <a:xfrm xmlns:a="http://schemas.openxmlformats.org/drawingml/2006/main">
            <a:off x="3257550" y="3819525"/>
            <a:ext cx="3905250" cy="190500"/>
          </a:xfrm>
          <a:prstGeom xmlns:a="http://schemas.openxmlformats.org/drawingml/2006/main" prst="roundRect">
            <a:avLst>
              <a:gd name="adj" fmla="val 40000"/>
            </a:avLst>
          </a:prstGeom>
          <a:solidFill xmlns:a="http://schemas.openxmlformats.org/drawingml/2006/main">
            <a:srgbClr val="233044"/>
          </a:solidFill>
          <a:ln xmlns:a="http://schemas.openxmlformats.org/drawingml/2006/main" w="9525">
            <a:solidFill>
              <a:srgbClr val="233044"/>
            </a:solidFill>
          </a:ln>
        </p:spPr>
      </p:sp>
      <p:sp>
        <p:nvSpPr>
          <p:cNvPr id="14" name="">
            <a:extLst xmlns:a="http://schemas.openxmlformats.org/drawingml/2006/main">
              <a:ext uri="{FF2B5EF4-FFF2-40B4-BE49-F238E27FC236}">
                <a16:creationId xmlns:a16="http://schemas.microsoft.com/office/drawing/2014/main" id="{56B24325-0168-4E8F-87CE-1FE955DA2A22}"/>
              </a:ext>
            </a:extLst>
          </p:cNvPr>
          <p:cNvSpPr>
            <a:spLocks xmlns:a="http://schemas.openxmlformats.org/drawingml/2006/main" noGrp="1"/>
          </p:cNvSpPr>
          <p:nvPr/>
        </p:nvSpPr>
        <p:spPr>
          <a:xfrm xmlns:a="http://schemas.openxmlformats.org/drawingml/2006/main">
            <a:off x="3257550" y="3819525"/>
            <a:ext cx="3280410" cy="190500"/>
          </a:xfrm>
          <a:prstGeom xmlns:a="http://schemas.openxmlformats.org/drawingml/2006/main" prst="roundRect">
            <a:avLst>
              <a:gd name="adj" fmla="val 40000"/>
            </a:avLst>
          </a:prstGeom>
          <a:solidFill xmlns:a="http://schemas.openxmlformats.org/drawingml/2006/main">
            <a:srgbClr val="5BE7FF"/>
          </a:solidFill>
          <a:ln xmlns:a="http://schemas.openxmlformats.org/drawingml/2006/main" w="9525">
            <a:solidFill>
              <a:srgbClr val="5BE7FF"/>
            </a:solidFill>
          </a:ln>
        </p:spPr>
      </p:sp>
      <p:sp>
        <p:nvSpPr>
          <p:cNvPr id="15" name="">
            <a:extLst xmlns:a="http://schemas.openxmlformats.org/drawingml/2006/main">
              <a:ext uri="{FF2B5EF4-FFF2-40B4-BE49-F238E27FC236}">
                <a16:creationId xmlns:a16="http://schemas.microsoft.com/office/drawing/2014/main" id="{DE68095C-EA5B-4613-878E-4DA44E075913}"/>
              </a:ext>
            </a:extLst>
          </p:cNvPr>
          <p:cNvSpPr>
            <a:spLocks xmlns:a="http://schemas.openxmlformats.org/drawingml/2006/main" noGrp="1"/>
          </p:cNvSpPr>
          <p:nvPr/>
        </p:nvSpPr>
        <p:spPr>
          <a:xfrm xmlns:a="http://schemas.openxmlformats.org/drawingml/2006/main">
            <a:off x="904875" y="4200525"/>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4F8FF"/>
                </a:solidFill>
                <a:latin typeface="Helvetica Neue"/>
                <a:ea typeface="Helvetica Neue"/>
                <a:cs typeface="Helvetica Neue"/>
              </a:defRPr>
            </a:pPr>
            <a:r>
              <a:rPr sz="1875" b="0">
                <a:solidFill>
                  <a:srgbClr val="F4F8FF"/>
                </a:solidFill>
                <a:latin typeface="Helvetica Neue"/>
                <a:ea typeface="Helvetica Neue"/>
                <a:cs typeface="Helvetica Neue"/>
              </a:rPr>
              <a:t>Eco conscious</a:t>
            </a:r>
          </a:p>
        </p:txBody>
      </p:sp>
      <p:sp>
        <p:nvSpPr>
          <p:cNvPr id="16" name="">
            <a:extLst xmlns:a="http://schemas.openxmlformats.org/drawingml/2006/main">
              <a:ext uri="{FF2B5EF4-FFF2-40B4-BE49-F238E27FC236}">
                <a16:creationId xmlns:a16="http://schemas.microsoft.com/office/drawing/2014/main" id="{5553A79A-128E-47C6-B8FD-F17B6A3926DE}"/>
              </a:ext>
            </a:extLst>
          </p:cNvPr>
          <p:cNvSpPr>
            <a:spLocks xmlns:a="http://schemas.openxmlformats.org/drawingml/2006/main" noGrp="1"/>
          </p:cNvSpPr>
          <p:nvPr/>
        </p:nvSpPr>
        <p:spPr>
          <a:xfrm xmlns:a="http://schemas.openxmlformats.org/drawingml/2006/main">
            <a:off x="3257550" y="4248150"/>
            <a:ext cx="3905250" cy="190500"/>
          </a:xfrm>
          <a:prstGeom xmlns:a="http://schemas.openxmlformats.org/drawingml/2006/main" prst="roundRect">
            <a:avLst>
              <a:gd name="adj" fmla="val 40000"/>
            </a:avLst>
          </a:prstGeom>
          <a:solidFill xmlns:a="http://schemas.openxmlformats.org/drawingml/2006/main">
            <a:srgbClr val="233044"/>
          </a:solidFill>
          <a:ln xmlns:a="http://schemas.openxmlformats.org/drawingml/2006/main" w="9525">
            <a:solidFill>
              <a:srgbClr val="233044"/>
            </a:solidFill>
          </a:ln>
        </p:spPr>
      </p:sp>
      <p:sp>
        <p:nvSpPr>
          <p:cNvPr id="17" name="">
            <a:extLst xmlns:a="http://schemas.openxmlformats.org/drawingml/2006/main">
              <a:ext uri="{FF2B5EF4-FFF2-40B4-BE49-F238E27FC236}">
                <a16:creationId xmlns:a16="http://schemas.microsoft.com/office/drawing/2014/main" id="{39CC1B64-2D36-4CD6-8A82-7F9FA4E71282}"/>
              </a:ext>
            </a:extLst>
          </p:cNvPr>
          <p:cNvSpPr>
            <a:spLocks xmlns:a="http://schemas.openxmlformats.org/drawingml/2006/main" noGrp="1"/>
          </p:cNvSpPr>
          <p:nvPr/>
        </p:nvSpPr>
        <p:spPr>
          <a:xfrm xmlns:a="http://schemas.openxmlformats.org/drawingml/2006/main">
            <a:off x="3257550" y="4248150"/>
            <a:ext cx="2538413" cy="190500"/>
          </a:xfrm>
          <a:prstGeom xmlns:a="http://schemas.openxmlformats.org/drawingml/2006/main" prst="roundRect">
            <a:avLst>
              <a:gd name="adj" fmla="val 40000"/>
            </a:avLst>
          </a:prstGeom>
          <a:solidFill xmlns:a="http://schemas.openxmlformats.org/drawingml/2006/main">
            <a:srgbClr val="8B5CF6"/>
          </a:solidFill>
          <a:ln xmlns:a="http://schemas.openxmlformats.org/drawingml/2006/main" w="9525">
            <a:solidFill>
              <a:srgbClr val="8B5CF6"/>
            </a:solidFill>
          </a:ln>
        </p:spPr>
      </p:sp>
      <p:sp>
        <p:nvSpPr>
          <p:cNvPr id="18" name="">
            <a:extLst xmlns:a="http://schemas.openxmlformats.org/drawingml/2006/main">
              <a:ext uri="{FF2B5EF4-FFF2-40B4-BE49-F238E27FC236}">
                <a16:creationId xmlns:a16="http://schemas.microsoft.com/office/drawing/2014/main" id="{4B0861A4-1834-4FBA-8222-7E17DD49B1BE}"/>
              </a:ext>
            </a:extLst>
          </p:cNvPr>
          <p:cNvSpPr>
            <a:spLocks xmlns:a="http://schemas.openxmlformats.org/drawingml/2006/main" noGrp="1"/>
          </p:cNvSpPr>
          <p:nvPr/>
        </p:nvSpPr>
        <p:spPr>
          <a:xfrm xmlns:a="http://schemas.openxmlformats.org/drawingml/2006/main">
            <a:off x="904875" y="462915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4F8FF"/>
                </a:solidFill>
                <a:latin typeface="Helvetica Neue"/>
                <a:ea typeface="Helvetica Neue"/>
                <a:cs typeface="Helvetica Neue"/>
              </a:defRPr>
            </a:pPr>
            <a:r>
              <a:rPr sz="1875" b="0">
                <a:solidFill>
                  <a:srgbClr val="F4F8FF"/>
                </a:solidFill>
                <a:latin typeface="Helvetica Neue"/>
                <a:ea typeface="Helvetica Neue"/>
                <a:cs typeface="Helvetica Neue"/>
              </a:rPr>
              <a:t>Luxury</a:t>
            </a:r>
          </a:p>
        </p:txBody>
      </p:sp>
      <p:sp>
        <p:nvSpPr>
          <p:cNvPr id="19" name="">
            <a:extLst xmlns:a="http://schemas.openxmlformats.org/drawingml/2006/main">
              <a:ext uri="{FF2B5EF4-FFF2-40B4-BE49-F238E27FC236}">
                <a16:creationId xmlns:a16="http://schemas.microsoft.com/office/drawing/2014/main" id="{3DD95DB5-45DE-4CEC-A5B5-C1A3DEDDA6E7}"/>
              </a:ext>
            </a:extLst>
          </p:cNvPr>
          <p:cNvSpPr>
            <a:spLocks xmlns:a="http://schemas.openxmlformats.org/drawingml/2006/main" noGrp="1"/>
          </p:cNvSpPr>
          <p:nvPr/>
        </p:nvSpPr>
        <p:spPr>
          <a:xfrm xmlns:a="http://schemas.openxmlformats.org/drawingml/2006/main">
            <a:off x="3257550" y="4676775"/>
            <a:ext cx="3905250" cy="190500"/>
          </a:xfrm>
          <a:prstGeom xmlns:a="http://schemas.openxmlformats.org/drawingml/2006/main" prst="roundRect">
            <a:avLst>
              <a:gd name="adj" fmla="val 40000"/>
            </a:avLst>
          </a:prstGeom>
          <a:solidFill xmlns:a="http://schemas.openxmlformats.org/drawingml/2006/main">
            <a:srgbClr val="233044"/>
          </a:solidFill>
          <a:ln xmlns:a="http://schemas.openxmlformats.org/drawingml/2006/main" w="9525">
            <a:solidFill>
              <a:srgbClr val="233044"/>
            </a:solidFill>
          </a:ln>
        </p:spPr>
      </p:sp>
      <p:sp>
        <p:nvSpPr>
          <p:cNvPr id="20" name="">
            <a:extLst xmlns:a="http://schemas.openxmlformats.org/drawingml/2006/main">
              <a:ext uri="{FF2B5EF4-FFF2-40B4-BE49-F238E27FC236}">
                <a16:creationId xmlns:a16="http://schemas.microsoft.com/office/drawing/2014/main" id="{A26CE2DB-B07E-4EA5-A0FF-83BE44E5C20E}"/>
              </a:ext>
            </a:extLst>
          </p:cNvPr>
          <p:cNvSpPr>
            <a:spLocks xmlns:a="http://schemas.openxmlformats.org/drawingml/2006/main" noGrp="1"/>
          </p:cNvSpPr>
          <p:nvPr/>
        </p:nvSpPr>
        <p:spPr>
          <a:xfrm xmlns:a="http://schemas.openxmlformats.org/drawingml/2006/main">
            <a:off x="3257550" y="4676775"/>
            <a:ext cx="1249680" cy="190500"/>
          </a:xfrm>
          <a:prstGeom xmlns:a="http://schemas.openxmlformats.org/drawingml/2006/main" prst="roundRect">
            <a:avLst>
              <a:gd name="adj" fmla="val 40000"/>
            </a:avLst>
          </a:prstGeom>
          <a:solidFill xmlns:a="http://schemas.openxmlformats.org/drawingml/2006/main">
            <a:srgbClr val="8B5CF6"/>
          </a:solidFill>
          <a:ln xmlns:a="http://schemas.openxmlformats.org/drawingml/2006/main" w="9525">
            <a:solidFill>
              <a:srgbClr val="8B5CF6"/>
            </a:solidFill>
          </a:ln>
        </p:spPr>
      </p:sp>
      <p:sp>
        <p:nvSpPr>
          <p:cNvPr id="21" name="">
            <a:extLst xmlns:a="http://schemas.openxmlformats.org/drawingml/2006/main">
              <a:ext uri="{FF2B5EF4-FFF2-40B4-BE49-F238E27FC236}">
                <a16:creationId xmlns:a16="http://schemas.microsoft.com/office/drawing/2014/main" id="{1D508DA9-8DA7-42A3-95FF-2B556611B6AD}"/>
              </a:ext>
            </a:extLst>
          </p:cNvPr>
          <p:cNvSpPr>
            <a:spLocks xmlns:a="http://schemas.openxmlformats.org/drawingml/2006/main" noGrp="1"/>
          </p:cNvSpPr>
          <p:nvPr/>
        </p:nvSpPr>
        <p:spPr>
          <a:xfrm xmlns:a="http://schemas.openxmlformats.org/drawingml/2006/main">
            <a:off x="904875" y="5057775"/>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4F8FF"/>
                </a:solidFill>
                <a:latin typeface="Helvetica Neue"/>
                <a:ea typeface="Helvetica Neue"/>
                <a:cs typeface="Helvetica Neue"/>
              </a:defRPr>
            </a:pPr>
            <a:r>
              <a:rPr sz="1875" b="0">
                <a:solidFill>
                  <a:srgbClr val="F4F8FF"/>
                </a:solidFill>
                <a:latin typeface="Helvetica Neue"/>
                <a:ea typeface="Helvetica Neue"/>
                <a:cs typeface="Helvetica Neue"/>
              </a:rPr>
              <a:t>Trendiness</a:t>
            </a:r>
          </a:p>
        </p:txBody>
      </p:sp>
      <p:sp>
        <p:nvSpPr>
          <p:cNvPr id="22" name="">
            <a:extLst xmlns:a="http://schemas.openxmlformats.org/drawingml/2006/main">
              <a:ext uri="{FF2B5EF4-FFF2-40B4-BE49-F238E27FC236}">
                <a16:creationId xmlns:a16="http://schemas.microsoft.com/office/drawing/2014/main" id="{EC6EE8C8-A70A-4FAC-B6F9-0EBB1FF22C50}"/>
              </a:ext>
            </a:extLst>
          </p:cNvPr>
          <p:cNvSpPr>
            <a:spLocks xmlns:a="http://schemas.openxmlformats.org/drawingml/2006/main" noGrp="1"/>
          </p:cNvSpPr>
          <p:nvPr/>
        </p:nvSpPr>
        <p:spPr>
          <a:xfrm xmlns:a="http://schemas.openxmlformats.org/drawingml/2006/main">
            <a:off x="3257550" y="5105400"/>
            <a:ext cx="3905250" cy="190500"/>
          </a:xfrm>
          <a:prstGeom xmlns:a="http://schemas.openxmlformats.org/drawingml/2006/main" prst="roundRect">
            <a:avLst>
              <a:gd name="adj" fmla="val 40000"/>
            </a:avLst>
          </a:prstGeom>
          <a:solidFill xmlns:a="http://schemas.openxmlformats.org/drawingml/2006/main">
            <a:srgbClr val="233044"/>
          </a:solidFill>
          <a:ln xmlns:a="http://schemas.openxmlformats.org/drawingml/2006/main" w="9525">
            <a:solidFill>
              <a:srgbClr val="233044"/>
            </a:solidFill>
          </a:ln>
        </p:spPr>
      </p:sp>
      <p:sp>
        <p:nvSpPr>
          <p:cNvPr id="23" name="">
            <a:extLst xmlns:a="http://schemas.openxmlformats.org/drawingml/2006/main">
              <a:ext uri="{FF2B5EF4-FFF2-40B4-BE49-F238E27FC236}">
                <a16:creationId xmlns:a16="http://schemas.microsoft.com/office/drawing/2014/main" id="{0EC3DAAF-A60B-43BC-8772-A08EF465DC34}"/>
              </a:ext>
            </a:extLst>
          </p:cNvPr>
          <p:cNvSpPr>
            <a:spLocks xmlns:a="http://schemas.openxmlformats.org/drawingml/2006/main" noGrp="1"/>
          </p:cNvSpPr>
          <p:nvPr/>
        </p:nvSpPr>
        <p:spPr>
          <a:xfrm xmlns:a="http://schemas.openxmlformats.org/drawingml/2006/main">
            <a:off x="3257550" y="5105400"/>
            <a:ext cx="741998" cy="190500"/>
          </a:xfrm>
          <a:prstGeom xmlns:a="http://schemas.openxmlformats.org/drawingml/2006/main" prst="roundRect">
            <a:avLst>
              <a:gd name="adj" fmla="val 40000"/>
            </a:avLst>
          </a:prstGeom>
          <a:solidFill xmlns:a="http://schemas.openxmlformats.org/drawingml/2006/main">
            <a:srgbClr val="8B5CF6"/>
          </a:solidFill>
          <a:ln xmlns:a="http://schemas.openxmlformats.org/drawingml/2006/main" w="9525">
            <a:solidFill>
              <a:srgbClr val="8B5CF6"/>
            </a:solidFill>
          </a:ln>
        </p:spPr>
      </p:sp>
      <p:sp>
        <p:nvSpPr>
          <p:cNvPr id="24" name="">
            <a:extLst xmlns:a="http://schemas.openxmlformats.org/drawingml/2006/main">
              <a:ext uri="{FF2B5EF4-FFF2-40B4-BE49-F238E27FC236}">
                <a16:creationId xmlns:a16="http://schemas.microsoft.com/office/drawing/2014/main" id="{A26E9742-4D36-4E52-BF34-E29E160E04C4}"/>
              </a:ext>
            </a:extLst>
          </p:cNvPr>
          <p:cNvSpPr>
            <a:spLocks xmlns:a="http://schemas.openxmlformats.org/drawingml/2006/main" noGrp="1"/>
          </p:cNvSpPr>
          <p:nvPr/>
        </p:nvSpPr>
        <p:spPr>
          <a:xfrm xmlns:a="http://schemas.openxmlformats.org/drawingml/2006/main">
            <a:off x="8172450" y="2409825"/>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94A6BF"/>
                </a:solidFill>
                <a:latin typeface="Helvetica Neue"/>
                <a:ea typeface="Helvetica Neue"/>
                <a:cs typeface="Helvetica Neue"/>
              </a:defRPr>
            </a:pPr>
            <a:r>
              <a:rPr sz="2100" b="0">
                <a:solidFill>
                  <a:srgbClr val="94A6BF"/>
                </a:solidFill>
                <a:latin typeface="Helvetica Neue"/>
                <a:ea typeface="Helvetica Neue"/>
                <a:cs typeface="Helvetica Neue"/>
              </a:rPr>
              <a:t>Learned from</a:t>
            </a:r>
          </a:p>
        </p:txBody>
      </p:sp>
      <p:sp>
        <p:nvSpPr>
          <p:cNvPr id="25" name="">
            <a:extLst xmlns:a="http://schemas.openxmlformats.org/drawingml/2006/main">
              <a:ext uri="{FF2B5EF4-FFF2-40B4-BE49-F238E27FC236}">
                <a16:creationId xmlns:a16="http://schemas.microsoft.com/office/drawing/2014/main" id="{00A7C575-B725-465C-B083-22CD969D968B}"/>
              </a:ext>
            </a:extLst>
          </p:cNvPr>
          <p:cNvSpPr>
            <a:spLocks xmlns:a="http://schemas.openxmlformats.org/drawingml/2006/main" noGrp="1"/>
          </p:cNvSpPr>
          <p:nvPr/>
        </p:nvSpPr>
        <p:spPr>
          <a:xfrm xmlns:a="http://schemas.openxmlformats.org/drawingml/2006/main">
            <a:off x="8172450" y="2990850"/>
            <a:ext cx="3238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F4F8FF"/>
                </a:solidFill>
                <a:latin typeface="Helvetica Neue"/>
                <a:ea typeface="Helvetica Neue"/>
                <a:cs typeface="Helvetica Neue"/>
              </a:defRPr>
            </a:pPr>
            <a:r>
              <a:rPr sz="2625" b="1">
                <a:solidFill>
                  <a:srgbClr val="F4F8FF"/>
                </a:solidFill>
                <a:latin typeface="Helvetica Neue"/>
                <a:ea typeface="Helvetica Neue"/>
                <a:cs typeface="Helvetica Neue"/>
              </a:rPr>
              <a:t>Patagonia</a:t>
            </a:r>
          </a:p>
          <a:p xmlns:a="http://schemas.openxmlformats.org/drawingml/2006/main">
            <a:pPr>
              <a:defRPr sz="2625" b="1">
                <a:solidFill>
                  <a:srgbClr val="F4F8FF"/>
                </a:solidFill>
                <a:latin typeface="Helvetica Neue"/>
                <a:ea typeface="Helvetica Neue"/>
                <a:cs typeface="Helvetica Neue"/>
              </a:defRPr>
            </a:pPr>
            <a:r>
              <a:rPr sz="2625" b="1">
                <a:solidFill>
                  <a:srgbClr val="F4F8FF"/>
                </a:solidFill>
                <a:latin typeface="Helvetica Neue"/>
                <a:ea typeface="Helvetica Neue"/>
                <a:cs typeface="Helvetica Neue"/>
              </a:rPr>
              <a:t>Muji</a:t>
            </a:r>
          </a:p>
          <a:p xmlns:a="http://schemas.openxmlformats.org/drawingml/2006/main">
            <a:pPr>
              <a:defRPr sz="2625" b="1">
                <a:solidFill>
                  <a:srgbClr val="F4F8FF"/>
                </a:solidFill>
                <a:latin typeface="Helvetica Neue"/>
                <a:ea typeface="Helvetica Neue"/>
                <a:cs typeface="Helvetica Neue"/>
              </a:defRPr>
            </a:pPr>
            <a:r>
              <a:rPr sz="2625" b="1">
                <a:solidFill>
                  <a:srgbClr val="F4F8FF"/>
                </a:solidFill>
                <a:latin typeface="Helvetica Neue"/>
                <a:ea typeface="Helvetica Neue"/>
                <a:cs typeface="Helvetica Neue"/>
              </a:rPr>
              <a:t>Aesop</a:t>
            </a:r>
          </a:p>
          <a:p xmlns:a="http://schemas.openxmlformats.org/drawingml/2006/main">
            <a:pPr>
              <a:defRPr sz="2625" b="1">
                <a:solidFill>
                  <a:srgbClr val="F4F8FF"/>
                </a:solidFill>
                <a:latin typeface="Helvetica Neue"/>
                <a:ea typeface="Helvetica Neue"/>
                <a:cs typeface="Helvetica Neue"/>
              </a:defRPr>
            </a:pPr>
            <a:r>
              <a:rPr sz="2625" b="1">
                <a:solidFill>
                  <a:srgbClr val="F4F8FF"/>
                </a:solidFill>
                <a:latin typeface="Helvetica Neue"/>
                <a:ea typeface="Helvetica Neue"/>
                <a:cs typeface="Helvetica Neue"/>
              </a:rPr>
              <a:t>Away</a:t>
            </a:r>
          </a:p>
        </p:txBody>
      </p:sp>
      <p:sp>
        <p:nvSpPr>
          <p:cNvPr id="26" name="">
            <a:extLst xmlns:a="http://schemas.openxmlformats.org/drawingml/2006/main">
              <a:ext uri="{FF2B5EF4-FFF2-40B4-BE49-F238E27FC236}">
                <a16:creationId xmlns:a16="http://schemas.microsoft.com/office/drawing/2014/main" id="{4B3A6E33-27B2-45C2-BB4C-350E5BADA5F6}"/>
              </a:ext>
            </a:extLst>
          </p:cNvPr>
          <p:cNvSpPr>
            <a:spLocks xmlns:a="http://schemas.openxmlformats.org/drawingml/2006/main" noGrp="1"/>
          </p:cNvSpPr>
          <p:nvPr/>
        </p:nvSpPr>
        <p:spPr>
          <a:xfrm xmlns:a="http://schemas.openxmlformats.org/drawingml/2006/main">
            <a:off x="8172450" y="52197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4ADE80"/>
                </a:solidFill>
                <a:latin typeface="Helvetica Neue"/>
                <a:ea typeface="Helvetica Neue"/>
                <a:cs typeface="Helvetica Neue"/>
              </a:defRPr>
            </a:pPr>
            <a:r>
              <a:rPr sz="2250" b="1">
                <a:solidFill>
                  <a:srgbClr val="4ADE80"/>
                </a:solidFill>
                <a:latin typeface="Helvetica Neue"/>
                <a:ea typeface="Helvetica Neue"/>
                <a:cs typeface="Helvetica Neue"/>
              </a:rPr>
              <a:t>Memory unlocked</a:t>
            </a:r>
          </a:p>
        </p:txBody>
      </p:sp>
      <p:sp>
        <p:nvSpPr>
          <p:cNvPr id="27" name="">
            <a:extLst xmlns:a="http://schemas.openxmlformats.org/drawingml/2006/main">
              <a:ext uri="{FF2B5EF4-FFF2-40B4-BE49-F238E27FC236}">
                <a16:creationId xmlns:a16="http://schemas.microsoft.com/office/drawing/2014/main" id="{CB25F010-B678-4DFB-8C09-B8E7878C0A0B}"/>
              </a:ext>
            </a:extLst>
          </p:cNvPr>
          <p:cNvSpPr>
            <a:spLocks xmlns:a="http://schemas.openxmlformats.org/drawingml/2006/main" noGrp="1"/>
          </p:cNvSpPr>
          <p:nvPr/>
        </p:nvSpPr>
        <p:spPr>
          <a:xfrm xmlns:a="http://schemas.openxmlformats.org/drawingml/2006/main">
            <a:off x="609600" y="61531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94A6BF"/>
                </a:solidFill>
                <a:latin typeface="Helvetica Neue"/>
                <a:ea typeface="Helvetica Neue"/>
                <a:cs typeface="Helvetica Neue"/>
              </a:defRPr>
            </a:pPr>
            <a:r>
              <a:rPr sz="1650" b="0">
                <a:solidFill>
                  <a:srgbClr val="94A6BF"/>
                </a:solidFill>
                <a:latin typeface="Helvetica Neue"/>
                <a:ea typeface="Helvetica Neue"/>
                <a:cs typeface="Helvetica Neue"/>
              </a:rPr>
              <a:t>Illustrative profile. You can edit or forget every signal.</a:t>
            </a:r>
          </a:p>
        </p:txBody>
      </p:sp>
    </p:spTree>
    <p:extLst>
      <p:ext uri="{BB962C8B-B14F-4D97-AF65-F5344CB8AC3E}">
        <p14:creationId xmlns:p14="http://schemas.microsoft.com/office/powerpoint/2010/main" val="136707713"/>
      </p:ext>
    </p:extLst>
  </p:cSld>
</p:sld>
</file>

<file path=ppt/slides/slide4.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795CE7E-2B9F-4FF1-B6A0-08A20C1868E2}"/>
              </a:ext>
            </a:extLst>
          </p:cNvPr>
          <p:cNvSpPr>
            <a:spLocks xmlns:a="http://schemas.openxmlformats.org/drawingml/2006/main" noGrp="1"/>
          </p:cNvSpPr>
          <p:nvPr/>
        </p:nvSpPr>
        <p:spPr>
          <a:xfrm xmlns:a="http://schemas.openxmlformats.org/drawingml/2006/main">
            <a:off x="609600" y="266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5BE7FF"/>
                </a:solidFill>
                <a:latin typeface="Helvetica Neue"/>
                <a:ea typeface="Helvetica Neue"/>
                <a:cs typeface="Helvetica Neue"/>
              </a:defRPr>
            </a:pPr>
            <a:r>
              <a:rPr sz="1350" b="1">
                <a:solidFill>
                  <a:srgbClr val="5BE7FF"/>
                </a:solidFill>
                <a:latin typeface="Helvetica Neue"/>
                <a:ea typeface="Helvetica Neue"/>
                <a:cs typeface="Helvetica Neue"/>
              </a:rPr>
              <a:t>FINDWISE</a:t>
            </a:r>
          </a:p>
        </p:txBody>
      </p:sp>
      <p:sp>
        <p:nvSpPr>
          <p:cNvPr id="2" name="">
            <a:extLst xmlns:a="http://schemas.openxmlformats.org/drawingml/2006/main">
              <a:ext uri="{FF2B5EF4-FFF2-40B4-BE49-F238E27FC236}">
                <a16:creationId xmlns:a16="http://schemas.microsoft.com/office/drawing/2014/main" id="{B9C6B474-F728-478F-8DA5-7244ECE368D7}"/>
              </a:ext>
            </a:extLst>
          </p:cNvPr>
          <p:cNvSpPr>
            <a:spLocks xmlns:a="http://schemas.openxmlformats.org/drawingml/2006/main" noGrp="1"/>
          </p:cNvSpPr>
          <p:nvPr/>
        </p:nvSpPr>
        <p:spPr>
          <a:xfrm xmlns:a="http://schemas.openxmlformats.org/drawingml/2006/main">
            <a:off x="10668000" y="2667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94A6BF"/>
                </a:solidFill>
                <a:latin typeface="Helvetica Neue"/>
                <a:ea typeface="Helvetica Neue"/>
                <a:cs typeface="Helvetica Neue"/>
              </a:defRPr>
            </a:pPr>
            <a:r>
              <a:rPr sz="1350" b="0">
                <a:solidFill>
                  <a:srgbClr val="94A6BF"/>
                </a:solidFill>
                <a:latin typeface="Helvetica Neue"/>
                <a:ea typeface="Helvetica Neue"/>
                <a:cs typeface="Helvetica Neue"/>
              </a:rPr>
              <a:t>04 / 10</a:t>
            </a:r>
          </a:p>
        </p:txBody>
      </p:sp>
      <p:sp>
        <p:nvSpPr>
          <p:cNvPr id="3" name="">
            <a:extLst xmlns:a="http://schemas.openxmlformats.org/drawingml/2006/main">
              <a:ext uri="{FF2B5EF4-FFF2-40B4-BE49-F238E27FC236}">
                <a16:creationId xmlns:a16="http://schemas.microsoft.com/office/drawing/2014/main" id="{0DB90283-C1B3-4603-88A7-CE578B4AA78C}"/>
              </a:ext>
            </a:extLst>
          </p:cNvPr>
          <p:cNvSpPr>
            <a:spLocks xmlns:a="http://schemas.openxmlformats.org/drawingml/2006/main" noGrp="1"/>
          </p:cNvSpPr>
          <p:nvPr/>
        </p:nvSpPr>
        <p:spPr>
          <a:xfrm xmlns:a="http://schemas.openxmlformats.org/drawingml/2006/main">
            <a:off x="609600" y="876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b="1">
                <a:solidFill>
                  <a:srgbClr val="F4F8FF"/>
                </a:solidFill>
                <a:latin typeface="Helvetica Neue"/>
                <a:ea typeface="Helvetica Neue"/>
                <a:cs typeface="Helvetica Neue"/>
              </a:defRPr>
            </a:pPr>
            <a:r>
              <a:rPr sz="4050" b="1">
                <a:solidFill>
                  <a:srgbClr val="F4F8FF"/>
                </a:solidFill>
                <a:latin typeface="Helvetica Neue"/>
                <a:ea typeface="Helvetica Neue"/>
                <a:cs typeface="Helvetica Neue"/>
              </a:rPr>
              <a:t>Decision Signals</a:t>
            </a:r>
          </a:p>
        </p:txBody>
      </p:sp>
      <p:sp>
        <p:nvSpPr>
          <p:cNvPr id="4" name="">
            <a:extLst xmlns:a="http://schemas.openxmlformats.org/drawingml/2006/main">
              <a:ext uri="{FF2B5EF4-FFF2-40B4-BE49-F238E27FC236}">
                <a16:creationId xmlns:a16="http://schemas.microsoft.com/office/drawing/2014/main" id="{2A84343C-FEDB-47AA-ABF4-35235309200F}"/>
              </a:ext>
            </a:extLst>
          </p:cNvPr>
          <p:cNvSpPr>
            <a:spLocks xmlns:a="http://schemas.openxmlformats.org/drawingml/2006/main" noGrp="1"/>
          </p:cNvSpPr>
          <p:nvPr/>
        </p:nvSpPr>
        <p:spPr>
          <a:xfrm xmlns:a="http://schemas.openxmlformats.org/drawingml/2006/main">
            <a:off x="609600" y="1952625"/>
            <a:ext cx="10972800" cy="781050"/>
          </a:xfrm>
          <a:prstGeom xmlns:a="http://schemas.openxmlformats.org/drawingml/2006/main" prst="roundRect">
            <a:avLst>
              <a:gd name="adj" fmla="val 9756"/>
            </a:avLst>
          </a:prstGeom>
          <a:solidFill xmlns:a="http://schemas.openxmlformats.org/drawingml/2006/main">
            <a:srgbClr val="141D2B"/>
          </a:solidFill>
          <a:ln xmlns:a="http://schemas.openxmlformats.org/drawingml/2006/main" w="9525">
            <a:solidFill>
              <a:srgbClr val="29384E"/>
            </a:solidFill>
          </a:ln>
        </p:spPr>
      </p:sp>
      <p:sp>
        <p:nvSpPr>
          <p:cNvPr id="5" name="">
            <a:extLst xmlns:a="http://schemas.openxmlformats.org/drawingml/2006/main">
              <a:ext uri="{FF2B5EF4-FFF2-40B4-BE49-F238E27FC236}">
                <a16:creationId xmlns:a16="http://schemas.microsoft.com/office/drawing/2014/main" id="{10754442-7C59-4D62-B9F5-5DCA4AD86DEF}"/>
              </a:ext>
            </a:extLst>
          </p:cNvPr>
          <p:cNvSpPr>
            <a:spLocks xmlns:a="http://schemas.openxmlformats.org/drawingml/2006/main" noGrp="1"/>
          </p:cNvSpPr>
          <p:nvPr/>
        </p:nvSpPr>
        <p:spPr>
          <a:xfrm xmlns:a="http://schemas.openxmlformats.org/drawingml/2006/main">
            <a:off x="857250" y="216217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5BE7FF"/>
                </a:solidFill>
                <a:latin typeface="Helvetica Neue"/>
                <a:ea typeface="Helvetica Neue"/>
                <a:cs typeface="Helvetica Neue"/>
              </a:defRPr>
            </a:pPr>
            <a:r>
              <a:rPr sz="2700" b="1">
                <a:solidFill>
                  <a:srgbClr val="5BE7FF"/>
                </a:solidFill>
                <a:latin typeface="Helvetica Neue"/>
                <a:ea typeface="Helvetica Neue"/>
                <a:cs typeface="Helvetica Neue"/>
              </a:rPr>
              <a:t>Find me a backpack under $200</a:t>
            </a:r>
          </a:p>
        </p:txBody>
      </p:sp>
      <p:sp>
        <p:nvSpPr>
          <p:cNvPr id="6" name="">
            <a:extLst xmlns:a="http://schemas.openxmlformats.org/drawingml/2006/main">
              <a:ext uri="{FF2B5EF4-FFF2-40B4-BE49-F238E27FC236}">
                <a16:creationId xmlns:a16="http://schemas.microsoft.com/office/drawing/2014/main" id="{697E2E84-211F-4651-AE1F-F08E1C995DCF}"/>
              </a:ext>
            </a:extLst>
          </p:cNvPr>
          <p:cNvSpPr>
            <a:spLocks xmlns:a="http://schemas.openxmlformats.org/drawingml/2006/main" noGrp="1"/>
          </p:cNvSpPr>
          <p:nvPr/>
        </p:nvSpPr>
        <p:spPr>
          <a:xfrm xmlns:a="http://schemas.openxmlformats.org/drawingml/2006/main">
            <a:off x="609600" y="3171825"/>
            <a:ext cx="2609850" cy="914400"/>
          </a:xfrm>
          <a:prstGeom xmlns:a="http://schemas.openxmlformats.org/drawingml/2006/main" prst="roundRect">
            <a:avLst>
              <a:gd name="adj" fmla="val 8333"/>
            </a:avLst>
          </a:prstGeom>
          <a:solidFill xmlns:a="http://schemas.openxmlformats.org/drawingml/2006/main">
            <a:srgbClr val="123440"/>
          </a:solidFill>
          <a:ln xmlns:a="http://schemas.openxmlformats.org/drawingml/2006/main" w="9525">
            <a:solidFill>
              <a:srgbClr val="5BE7FF"/>
            </a:solidFill>
          </a:ln>
        </p:spPr>
      </p:sp>
      <p:sp>
        <p:nvSpPr>
          <p:cNvPr id="7" name="">
            <a:extLst xmlns:a="http://schemas.openxmlformats.org/drawingml/2006/main">
              <a:ext uri="{FF2B5EF4-FFF2-40B4-BE49-F238E27FC236}">
                <a16:creationId xmlns:a16="http://schemas.microsoft.com/office/drawing/2014/main" id="{DB6F17E2-8DAE-42AF-BD27-E703346F4ADE}"/>
              </a:ext>
            </a:extLst>
          </p:cNvPr>
          <p:cNvSpPr>
            <a:spLocks xmlns:a="http://schemas.openxmlformats.org/drawingml/2006/main" noGrp="1"/>
          </p:cNvSpPr>
          <p:nvPr/>
        </p:nvSpPr>
        <p:spPr>
          <a:xfrm xmlns:a="http://schemas.openxmlformats.org/drawingml/2006/main">
            <a:off x="781050" y="3438525"/>
            <a:ext cx="22955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5BE7FF"/>
                </a:solidFill>
                <a:latin typeface="Helvetica Neue"/>
                <a:ea typeface="Helvetica Neue"/>
                <a:cs typeface="Helvetica Neue"/>
              </a:defRPr>
            </a:pPr>
            <a:r>
              <a:rPr sz="1950" b="1">
                <a:solidFill>
                  <a:srgbClr val="5BE7FF"/>
                </a:solidFill>
                <a:latin typeface="Helvetica Neue"/>
                <a:ea typeface="Helvetica Neue"/>
                <a:cs typeface="Helvetica Neue"/>
              </a:rPr>
              <a:t>✓ Durable</a:t>
            </a:r>
          </a:p>
        </p:txBody>
      </p:sp>
      <p:sp>
        <p:nvSpPr>
          <p:cNvPr id="8" name="">
            <a:extLst xmlns:a="http://schemas.openxmlformats.org/drawingml/2006/main">
              <a:ext uri="{FF2B5EF4-FFF2-40B4-BE49-F238E27FC236}">
                <a16:creationId xmlns:a16="http://schemas.microsoft.com/office/drawing/2014/main" id="{9BF5B50F-5804-4B80-9439-CA2079E62D9E}"/>
              </a:ext>
            </a:extLst>
          </p:cNvPr>
          <p:cNvSpPr>
            <a:spLocks xmlns:a="http://schemas.openxmlformats.org/drawingml/2006/main" noGrp="1"/>
          </p:cNvSpPr>
          <p:nvPr/>
        </p:nvSpPr>
        <p:spPr>
          <a:xfrm xmlns:a="http://schemas.openxmlformats.org/drawingml/2006/main">
            <a:off x="3400425" y="3171825"/>
            <a:ext cx="2609850" cy="914400"/>
          </a:xfrm>
          <a:prstGeom xmlns:a="http://schemas.openxmlformats.org/drawingml/2006/main" prst="roundRect">
            <a:avLst>
              <a:gd name="adj" fmla="val 8333"/>
            </a:avLst>
          </a:prstGeom>
          <a:solidFill xmlns:a="http://schemas.openxmlformats.org/drawingml/2006/main">
            <a:srgbClr val="123440"/>
          </a:solidFill>
          <a:ln xmlns:a="http://schemas.openxmlformats.org/drawingml/2006/main" w="9525">
            <a:solidFill>
              <a:srgbClr val="5BE7FF"/>
            </a:solidFill>
          </a:ln>
        </p:spPr>
      </p:sp>
      <p:sp>
        <p:nvSpPr>
          <p:cNvPr id="9" name="">
            <a:extLst xmlns:a="http://schemas.openxmlformats.org/drawingml/2006/main">
              <a:ext uri="{FF2B5EF4-FFF2-40B4-BE49-F238E27FC236}">
                <a16:creationId xmlns:a16="http://schemas.microsoft.com/office/drawing/2014/main" id="{819AB282-48EA-42E0-A2A5-C8AB4FFBFC4A}"/>
              </a:ext>
            </a:extLst>
          </p:cNvPr>
          <p:cNvSpPr>
            <a:spLocks xmlns:a="http://schemas.openxmlformats.org/drawingml/2006/main" noGrp="1"/>
          </p:cNvSpPr>
          <p:nvPr/>
        </p:nvSpPr>
        <p:spPr>
          <a:xfrm xmlns:a="http://schemas.openxmlformats.org/drawingml/2006/main">
            <a:off x="3571875" y="3438525"/>
            <a:ext cx="22955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5BE7FF"/>
                </a:solidFill>
                <a:latin typeface="Helvetica Neue"/>
                <a:ea typeface="Helvetica Neue"/>
                <a:cs typeface="Helvetica Neue"/>
              </a:defRPr>
            </a:pPr>
            <a:r>
              <a:rPr sz="1950" b="1">
                <a:solidFill>
                  <a:srgbClr val="5BE7FF"/>
                </a:solidFill>
                <a:latin typeface="Helvetica Neue"/>
                <a:ea typeface="Helvetica Neue"/>
                <a:cs typeface="Helvetica Neue"/>
              </a:rPr>
              <a:t>✓ Minimal</a:t>
            </a:r>
          </a:p>
        </p:txBody>
      </p:sp>
      <p:sp>
        <p:nvSpPr>
          <p:cNvPr id="10" name="">
            <a:extLst xmlns:a="http://schemas.openxmlformats.org/drawingml/2006/main">
              <a:ext uri="{FF2B5EF4-FFF2-40B4-BE49-F238E27FC236}">
                <a16:creationId xmlns:a16="http://schemas.microsoft.com/office/drawing/2014/main" id="{A7326E42-3C72-469E-9CDC-547250CE9239}"/>
              </a:ext>
            </a:extLst>
          </p:cNvPr>
          <p:cNvSpPr>
            <a:spLocks xmlns:a="http://schemas.openxmlformats.org/drawingml/2006/main" noGrp="1"/>
          </p:cNvSpPr>
          <p:nvPr/>
        </p:nvSpPr>
        <p:spPr>
          <a:xfrm xmlns:a="http://schemas.openxmlformats.org/drawingml/2006/main">
            <a:off x="6191250" y="3171825"/>
            <a:ext cx="2609850" cy="914400"/>
          </a:xfrm>
          <a:prstGeom xmlns:a="http://schemas.openxmlformats.org/drawingml/2006/main" prst="roundRect">
            <a:avLst>
              <a:gd name="adj" fmla="val 8333"/>
            </a:avLst>
          </a:prstGeom>
          <a:solidFill xmlns:a="http://schemas.openxmlformats.org/drawingml/2006/main">
            <a:srgbClr val="123440"/>
          </a:solidFill>
          <a:ln xmlns:a="http://schemas.openxmlformats.org/drawingml/2006/main" w="9525">
            <a:solidFill>
              <a:srgbClr val="5BE7FF"/>
            </a:solidFill>
          </a:ln>
        </p:spPr>
      </p:sp>
      <p:sp>
        <p:nvSpPr>
          <p:cNvPr id="11" name="">
            <a:extLst xmlns:a="http://schemas.openxmlformats.org/drawingml/2006/main">
              <a:ext uri="{FF2B5EF4-FFF2-40B4-BE49-F238E27FC236}">
                <a16:creationId xmlns:a16="http://schemas.microsoft.com/office/drawing/2014/main" id="{1A69AC51-FBA2-454D-BB30-3EDA9E10BC8A}"/>
              </a:ext>
            </a:extLst>
          </p:cNvPr>
          <p:cNvSpPr>
            <a:spLocks xmlns:a="http://schemas.openxmlformats.org/drawingml/2006/main" noGrp="1"/>
          </p:cNvSpPr>
          <p:nvPr/>
        </p:nvSpPr>
        <p:spPr>
          <a:xfrm xmlns:a="http://schemas.openxmlformats.org/drawingml/2006/main">
            <a:off x="6362700" y="3438525"/>
            <a:ext cx="22955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5BE7FF"/>
                </a:solidFill>
                <a:latin typeface="Helvetica Neue"/>
                <a:ea typeface="Helvetica Neue"/>
                <a:cs typeface="Helvetica Neue"/>
              </a:defRPr>
            </a:pPr>
            <a:r>
              <a:rPr sz="1950" b="1">
                <a:solidFill>
                  <a:srgbClr val="5BE7FF"/>
                </a:solidFill>
                <a:latin typeface="Helvetica Neue"/>
                <a:ea typeface="Helvetica Neue"/>
                <a:cs typeface="Helvetica Neue"/>
              </a:rPr>
              <a:t>✓ Travel friendly</a:t>
            </a:r>
          </a:p>
        </p:txBody>
      </p:sp>
      <p:sp>
        <p:nvSpPr>
          <p:cNvPr id="12" name="">
            <a:extLst xmlns:a="http://schemas.openxmlformats.org/drawingml/2006/main">
              <a:ext uri="{FF2B5EF4-FFF2-40B4-BE49-F238E27FC236}">
                <a16:creationId xmlns:a16="http://schemas.microsoft.com/office/drawing/2014/main" id="{BB401EE3-292B-4ADF-A249-BCAAAD8D246A}"/>
              </a:ext>
            </a:extLst>
          </p:cNvPr>
          <p:cNvSpPr>
            <a:spLocks xmlns:a="http://schemas.openxmlformats.org/drawingml/2006/main" noGrp="1"/>
          </p:cNvSpPr>
          <p:nvPr/>
        </p:nvSpPr>
        <p:spPr>
          <a:xfrm xmlns:a="http://schemas.openxmlformats.org/drawingml/2006/main">
            <a:off x="8982075" y="3171825"/>
            <a:ext cx="2609850" cy="914400"/>
          </a:xfrm>
          <a:prstGeom xmlns:a="http://schemas.openxmlformats.org/drawingml/2006/main" prst="roundRect">
            <a:avLst>
              <a:gd name="adj" fmla="val 8333"/>
            </a:avLst>
          </a:prstGeom>
          <a:solidFill xmlns:a="http://schemas.openxmlformats.org/drawingml/2006/main">
            <a:srgbClr val="123440"/>
          </a:solidFill>
          <a:ln xmlns:a="http://schemas.openxmlformats.org/drawingml/2006/main" w="9525">
            <a:solidFill>
              <a:srgbClr val="5BE7FF"/>
            </a:solidFill>
          </a:ln>
        </p:spPr>
      </p:sp>
      <p:sp>
        <p:nvSpPr>
          <p:cNvPr id="13" name="">
            <a:extLst xmlns:a="http://schemas.openxmlformats.org/drawingml/2006/main">
              <a:ext uri="{FF2B5EF4-FFF2-40B4-BE49-F238E27FC236}">
                <a16:creationId xmlns:a16="http://schemas.microsoft.com/office/drawing/2014/main" id="{23E27507-2DFE-411A-8206-C72FDA6BC811}"/>
              </a:ext>
            </a:extLst>
          </p:cNvPr>
          <p:cNvSpPr>
            <a:spLocks xmlns:a="http://schemas.openxmlformats.org/drawingml/2006/main" noGrp="1"/>
          </p:cNvSpPr>
          <p:nvPr/>
        </p:nvSpPr>
        <p:spPr>
          <a:xfrm xmlns:a="http://schemas.openxmlformats.org/drawingml/2006/main">
            <a:off x="9153525" y="3438525"/>
            <a:ext cx="22955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5BE7FF"/>
                </a:solidFill>
                <a:latin typeface="Helvetica Neue"/>
                <a:ea typeface="Helvetica Neue"/>
                <a:cs typeface="Helvetica Neue"/>
              </a:defRPr>
            </a:pPr>
            <a:r>
              <a:rPr sz="1950" b="1">
                <a:solidFill>
                  <a:srgbClr val="5BE7FF"/>
                </a:solidFill>
                <a:latin typeface="Helvetica Neue"/>
                <a:ea typeface="Helvetica Neue"/>
                <a:cs typeface="Helvetica Neue"/>
              </a:rPr>
              <a:t>✓ Water resistant</a:t>
            </a:r>
          </a:p>
        </p:txBody>
      </p:sp>
      <p:sp>
        <p:nvSpPr>
          <p:cNvPr id="14" name="">
            <a:extLst xmlns:a="http://schemas.openxmlformats.org/drawingml/2006/main">
              <a:ext uri="{FF2B5EF4-FFF2-40B4-BE49-F238E27FC236}">
                <a16:creationId xmlns:a16="http://schemas.microsoft.com/office/drawing/2014/main" id="{2CC77D42-1D44-406F-9D52-C543CF685D28}"/>
              </a:ext>
            </a:extLst>
          </p:cNvPr>
          <p:cNvSpPr>
            <a:spLocks xmlns:a="http://schemas.openxmlformats.org/drawingml/2006/main" noGrp="1"/>
          </p:cNvSpPr>
          <p:nvPr/>
        </p:nvSpPr>
        <p:spPr>
          <a:xfrm xmlns:a="http://schemas.openxmlformats.org/drawingml/2006/main">
            <a:off x="609600" y="4286250"/>
            <a:ext cx="2609850" cy="914400"/>
          </a:xfrm>
          <a:prstGeom xmlns:a="http://schemas.openxmlformats.org/drawingml/2006/main" prst="roundRect">
            <a:avLst>
              <a:gd name="adj" fmla="val 8333"/>
            </a:avLst>
          </a:prstGeom>
          <a:solidFill xmlns:a="http://schemas.openxmlformats.org/drawingml/2006/main">
            <a:srgbClr val="123440"/>
          </a:solidFill>
          <a:ln xmlns:a="http://schemas.openxmlformats.org/drawingml/2006/main" w="9525">
            <a:solidFill>
              <a:srgbClr val="5BE7FF"/>
            </a:solidFill>
          </a:ln>
        </p:spPr>
      </p:sp>
      <p:sp>
        <p:nvSpPr>
          <p:cNvPr id="15" name="">
            <a:extLst xmlns:a="http://schemas.openxmlformats.org/drawingml/2006/main">
              <a:ext uri="{FF2B5EF4-FFF2-40B4-BE49-F238E27FC236}">
                <a16:creationId xmlns:a16="http://schemas.microsoft.com/office/drawing/2014/main" id="{F4ADB8AD-2808-4F51-B6CA-D7164BB8235B}"/>
              </a:ext>
            </a:extLst>
          </p:cNvPr>
          <p:cNvSpPr>
            <a:spLocks xmlns:a="http://schemas.openxmlformats.org/drawingml/2006/main" noGrp="1"/>
          </p:cNvSpPr>
          <p:nvPr/>
        </p:nvSpPr>
        <p:spPr>
          <a:xfrm xmlns:a="http://schemas.openxmlformats.org/drawingml/2006/main">
            <a:off x="781050" y="4552950"/>
            <a:ext cx="22955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5BE7FF"/>
                </a:solidFill>
                <a:latin typeface="Helvetica Neue"/>
                <a:ea typeface="Helvetica Neue"/>
                <a:cs typeface="Helvetica Neue"/>
              </a:defRPr>
            </a:pPr>
            <a:r>
              <a:rPr sz="1950" b="1">
                <a:solidFill>
                  <a:srgbClr val="5BE7FF"/>
                </a:solidFill>
                <a:latin typeface="Helvetica Neue"/>
                <a:ea typeface="Helvetica Neue"/>
                <a:cs typeface="Helvetica Neue"/>
              </a:rPr>
              <a:t>✓ Warranty</a:t>
            </a:r>
          </a:p>
        </p:txBody>
      </p:sp>
      <p:sp>
        <p:nvSpPr>
          <p:cNvPr id="16" name="">
            <a:extLst xmlns:a="http://schemas.openxmlformats.org/drawingml/2006/main">
              <a:ext uri="{FF2B5EF4-FFF2-40B4-BE49-F238E27FC236}">
                <a16:creationId xmlns:a16="http://schemas.microsoft.com/office/drawing/2014/main" id="{32C24FBC-ACA6-4CAB-896E-791BC1E12DFC}"/>
              </a:ext>
            </a:extLst>
          </p:cNvPr>
          <p:cNvSpPr>
            <a:spLocks xmlns:a="http://schemas.openxmlformats.org/drawingml/2006/main" noGrp="1"/>
          </p:cNvSpPr>
          <p:nvPr/>
        </p:nvSpPr>
        <p:spPr>
          <a:xfrm xmlns:a="http://schemas.openxmlformats.org/drawingml/2006/main">
            <a:off x="3400425" y="4286250"/>
            <a:ext cx="2609850" cy="914400"/>
          </a:xfrm>
          <a:prstGeom xmlns:a="http://schemas.openxmlformats.org/drawingml/2006/main" prst="roundRect">
            <a:avLst>
              <a:gd name="adj" fmla="val 8333"/>
            </a:avLst>
          </a:prstGeom>
          <a:solidFill xmlns:a="http://schemas.openxmlformats.org/drawingml/2006/main">
            <a:srgbClr val="141D2B"/>
          </a:solidFill>
          <a:ln xmlns:a="http://schemas.openxmlformats.org/drawingml/2006/main" w="9525">
            <a:solidFill>
              <a:srgbClr val="29384E"/>
            </a:solidFill>
          </a:ln>
        </p:spPr>
      </p:sp>
      <p:sp>
        <p:nvSpPr>
          <p:cNvPr id="17" name="">
            <a:extLst xmlns:a="http://schemas.openxmlformats.org/drawingml/2006/main">
              <a:ext uri="{FF2B5EF4-FFF2-40B4-BE49-F238E27FC236}">
                <a16:creationId xmlns:a16="http://schemas.microsoft.com/office/drawing/2014/main" id="{8A4A76EF-4B27-4DCC-90BA-97C704D4BDA6}"/>
              </a:ext>
            </a:extLst>
          </p:cNvPr>
          <p:cNvSpPr>
            <a:spLocks xmlns:a="http://schemas.openxmlformats.org/drawingml/2006/main" noGrp="1"/>
          </p:cNvSpPr>
          <p:nvPr/>
        </p:nvSpPr>
        <p:spPr>
          <a:xfrm xmlns:a="http://schemas.openxmlformats.org/drawingml/2006/main">
            <a:off x="3571875" y="4552950"/>
            <a:ext cx="22955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94A6BF"/>
                </a:solidFill>
                <a:latin typeface="Helvetica Neue"/>
                <a:ea typeface="Helvetica Neue"/>
                <a:cs typeface="Helvetica Neue"/>
              </a:defRPr>
            </a:pPr>
            <a:r>
              <a:rPr sz="1950" b="1">
                <a:solidFill>
                  <a:srgbClr val="94A6BF"/>
                </a:solidFill>
                <a:latin typeface="Helvetica Neue"/>
                <a:ea typeface="Helvetica Neue"/>
                <a:cs typeface="Helvetica Neue"/>
              </a:rPr>
              <a:t>Comfortable</a:t>
            </a:r>
          </a:p>
        </p:txBody>
      </p:sp>
      <p:sp>
        <p:nvSpPr>
          <p:cNvPr id="18" name="">
            <a:extLst xmlns:a="http://schemas.openxmlformats.org/drawingml/2006/main">
              <a:ext uri="{FF2B5EF4-FFF2-40B4-BE49-F238E27FC236}">
                <a16:creationId xmlns:a16="http://schemas.microsoft.com/office/drawing/2014/main" id="{A3D23413-1ED9-40CE-82A5-E6347756880D}"/>
              </a:ext>
            </a:extLst>
          </p:cNvPr>
          <p:cNvSpPr>
            <a:spLocks xmlns:a="http://schemas.openxmlformats.org/drawingml/2006/main" noGrp="1"/>
          </p:cNvSpPr>
          <p:nvPr/>
        </p:nvSpPr>
        <p:spPr>
          <a:xfrm xmlns:a="http://schemas.openxmlformats.org/drawingml/2006/main">
            <a:off x="6191250" y="4286250"/>
            <a:ext cx="2609850" cy="914400"/>
          </a:xfrm>
          <a:prstGeom xmlns:a="http://schemas.openxmlformats.org/drawingml/2006/main" prst="roundRect">
            <a:avLst>
              <a:gd name="adj" fmla="val 8333"/>
            </a:avLst>
          </a:prstGeom>
          <a:solidFill xmlns:a="http://schemas.openxmlformats.org/drawingml/2006/main">
            <a:srgbClr val="141D2B"/>
          </a:solidFill>
          <a:ln xmlns:a="http://schemas.openxmlformats.org/drawingml/2006/main" w="9525">
            <a:solidFill>
              <a:srgbClr val="29384E"/>
            </a:solidFill>
          </a:ln>
        </p:spPr>
      </p:sp>
      <p:sp>
        <p:nvSpPr>
          <p:cNvPr id="19" name="">
            <a:extLst xmlns:a="http://schemas.openxmlformats.org/drawingml/2006/main">
              <a:ext uri="{FF2B5EF4-FFF2-40B4-BE49-F238E27FC236}">
                <a16:creationId xmlns:a16="http://schemas.microsoft.com/office/drawing/2014/main" id="{5D11A947-15F8-4596-9CEA-4D9950CB60C3}"/>
              </a:ext>
            </a:extLst>
          </p:cNvPr>
          <p:cNvSpPr>
            <a:spLocks xmlns:a="http://schemas.openxmlformats.org/drawingml/2006/main" noGrp="1"/>
          </p:cNvSpPr>
          <p:nvPr/>
        </p:nvSpPr>
        <p:spPr>
          <a:xfrm xmlns:a="http://schemas.openxmlformats.org/drawingml/2006/main">
            <a:off x="6362700" y="4552950"/>
            <a:ext cx="22955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94A6BF"/>
                </a:solidFill>
                <a:latin typeface="Helvetica Neue"/>
                <a:ea typeface="Helvetica Neue"/>
                <a:cs typeface="Helvetica Neue"/>
              </a:defRPr>
            </a:pPr>
            <a:r>
              <a:rPr sz="1950" b="1">
                <a:solidFill>
                  <a:srgbClr val="94A6BF"/>
                </a:solidFill>
                <a:latin typeface="Helvetica Neue"/>
                <a:ea typeface="Helvetica Neue"/>
                <a:cs typeface="Helvetica Neue"/>
              </a:rPr>
              <a:t>Organized</a:t>
            </a:r>
          </a:p>
        </p:txBody>
      </p:sp>
      <p:sp>
        <p:nvSpPr>
          <p:cNvPr id="20" name="">
            <a:extLst xmlns:a="http://schemas.openxmlformats.org/drawingml/2006/main">
              <a:ext uri="{FF2B5EF4-FFF2-40B4-BE49-F238E27FC236}">
                <a16:creationId xmlns:a16="http://schemas.microsoft.com/office/drawing/2014/main" id="{D88B3445-0DCD-43B6-ACAA-5BC45B472B13}"/>
              </a:ext>
            </a:extLst>
          </p:cNvPr>
          <p:cNvSpPr>
            <a:spLocks xmlns:a="http://schemas.openxmlformats.org/drawingml/2006/main" noGrp="1"/>
          </p:cNvSpPr>
          <p:nvPr/>
        </p:nvSpPr>
        <p:spPr>
          <a:xfrm xmlns:a="http://schemas.openxmlformats.org/drawingml/2006/main">
            <a:off x="8982075" y="4286250"/>
            <a:ext cx="2609850" cy="914400"/>
          </a:xfrm>
          <a:prstGeom xmlns:a="http://schemas.openxmlformats.org/drawingml/2006/main" prst="roundRect">
            <a:avLst>
              <a:gd name="adj" fmla="val 8333"/>
            </a:avLst>
          </a:prstGeom>
          <a:solidFill xmlns:a="http://schemas.openxmlformats.org/drawingml/2006/main">
            <a:srgbClr val="141D2B"/>
          </a:solidFill>
          <a:ln xmlns:a="http://schemas.openxmlformats.org/drawingml/2006/main" w="9525">
            <a:solidFill>
              <a:srgbClr val="29384E"/>
            </a:solidFill>
          </a:ln>
        </p:spPr>
      </p:sp>
      <p:sp>
        <p:nvSpPr>
          <p:cNvPr id="21" name="">
            <a:extLst xmlns:a="http://schemas.openxmlformats.org/drawingml/2006/main">
              <a:ext uri="{FF2B5EF4-FFF2-40B4-BE49-F238E27FC236}">
                <a16:creationId xmlns:a16="http://schemas.microsoft.com/office/drawing/2014/main" id="{D730CCF2-C5CE-4A0A-8E22-4DBF523F34C9}"/>
              </a:ext>
            </a:extLst>
          </p:cNvPr>
          <p:cNvSpPr>
            <a:spLocks xmlns:a="http://schemas.openxmlformats.org/drawingml/2006/main" noGrp="1"/>
          </p:cNvSpPr>
          <p:nvPr/>
        </p:nvSpPr>
        <p:spPr>
          <a:xfrm xmlns:a="http://schemas.openxmlformats.org/drawingml/2006/main">
            <a:off x="9153525" y="4552950"/>
            <a:ext cx="22955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94A6BF"/>
                </a:solidFill>
                <a:latin typeface="Helvetica Neue"/>
                <a:ea typeface="Helvetica Neue"/>
                <a:cs typeface="Helvetica Neue"/>
              </a:defRPr>
            </a:pPr>
            <a:r>
              <a:rPr sz="1950" b="1">
                <a:solidFill>
                  <a:srgbClr val="94A6BF"/>
                </a:solidFill>
                <a:latin typeface="Helvetica Neue"/>
                <a:ea typeface="Helvetica Neue"/>
                <a:cs typeface="Helvetica Neue"/>
              </a:rPr>
              <a:t>Premium materials</a:t>
            </a:r>
          </a:p>
        </p:txBody>
      </p:sp>
      <p:sp>
        <p:nvSpPr>
          <p:cNvPr id="22" name="">
            <a:extLst xmlns:a="http://schemas.openxmlformats.org/drawingml/2006/main">
              <a:ext uri="{FF2B5EF4-FFF2-40B4-BE49-F238E27FC236}">
                <a16:creationId xmlns:a16="http://schemas.microsoft.com/office/drawing/2014/main" id="{59B8B4FA-B100-437D-B831-4503F9302592}"/>
              </a:ext>
            </a:extLst>
          </p:cNvPr>
          <p:cNvSpPr>
            <a:spLocks xmlns:a="http://schemas.openxmlformats.org/drawingml/2006/main" noGrp="1"/>
          </p:cNvSpPr>
          <p:nvPr/>
        </p:nvSpPr>
        <p:spPr>
          <a:xfrm xmlns:a="http://schemas.openxmlformats.org/drawingml/2006/main">
            <a:off x="8429625" y="5676900"/>
            <a:ext cx="3143250" cy="609600"/>
          </a:xfrm>
          <a:prstGeom xmlns:a="http://schemas.openxmlformats.org/drawingml/2006/main" prst="roundRect">
            <a:avLst>
              <a:gd name="adj" fmla="val 12500"/>
            </a:avLst>
          </a:prstGeom>
          <a:solidFill xmlns:a="http://schemas.openxmlformats.org/drawingml/2006/main">
            <a:srgbClr val="8B5CF6"/>
          </a:solidFill>
          <a:ln xmlns:a="http://schemas.openxmlformats.org/drawingml/2006/main" w="9525">
            <a:solidFill>
              <a:srgbClr val="8B5CF6"/>
            </a:solidFill>
          </a:ln>
        </p:spPr>
      </p:sp>
      <p:sp>
        <p:nvSpPr>
          <p:cNvPr id="23" name="">
            <a:extLst xmlns:a="http://schemas.openxmlformats.org/drawingml/2006/main">
              <a:ext uri="{FF2B5EF4-FFF2-40B4-BE49-F238E27FC236}">
                <a16:creationId xmlns:a16="http://schemas.microsoft.com/office/drawing/2014/main" id="{A69A2BDE-9913-42FE-A293-8B59E8A20CD0}"/>
              </a:ext>
            </a:extLst>
          </p:cNvPr>
          <p:cNvSpPr>
            <a:spLocks xmlns:a="http://schemas.openxmlformats.org/drawingml/2006/main" noGrp="1"/>
          </p:cNvSpPr>
          <p:nvPr/>
        </p:nvSpPr>
        <p:spPr>
          <a:xfrm xmlns:a="http://schemas.openxmlformats.org/drawingml/2006/main">
            <a:off x="8658225" y="58388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F4F8FF"/>
                </a:solidFill>
                <a:latin typeface="Helvetica Neue"/>
                <a:ea typeface="Helvetica Neue"/>
                <a:cs typeface="Helvetica Neue"/>
              </a:defRPr>
            </a:pPr>
            <a:r>
              <a:rPr sz="1800" b="1">
                <a:solidFill>
                  <a:srgbClr val="F4F8FF"/>
                </a:solidFill>
                <a:latin typeface="Helvetica Neue"/>
                <a:ea typeface="Helvetica Neue"/>
                <a:cs typeface="Helvetica Neue"/>
              </a:rPr>
              <a:t>5 selected    Continue</a:t>
            </a:r>
          </a:p>
        </p:txBody>
      </p:sp>
      <p:sp>
        <p:nvSpPr>
          <p:cNvPr id="24" name="">
            <a:extLst xmlns:a="http://schemas.openxmlformats.org/drawingml/2006/main">
              <a:ext uri="{FF2B5EF4-FFF2-40B4-BE49-F238E27FC236}">
                <a16:creationId xmlns:a16="http://schemas.microsoft.com/office/drawing/2014/main" id="{D86F8700-924B-487D-BD7C-02C2A09FA3F0}"/>
              </a:ext>
            </a:extLst>
          </p:cNvPr>
          <p:cNvSpPr>
            <a:spLocks xmlns:a="http://schemas.openxmlformats.org/drawingml/2006/main" noGrp="1"/>
          </p:cNvSpPr>
          <p:nvPr/>
        </p:nvSpPr>
        <p:spPr>
          <a:xfrm xmlns:a="http://schemas.openxmlformats.org/drawingml/2006/main">
            <a:off x="609600" y="5848350"/>
            <a:ext cx="7381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94A6BF"/>
                </a:solidFill>
                <a:latin typeface="Helvetica Neue"/>
                <a:ea typeface="Helvetica Neue"/>
                <a:cs typeface="Helvetica Neue"/>
              </a:defRPr>
            </a:pPr>
            <a:r>
              <a:rPr sz="1950" b="0">
                <a:solidFill>
                  <a:srgbClr val="94A6BF"/>
                </a:solidFill>
                <a:latin typeface="Helvetica Neue"/>
                <a:ea typeface="Helvetica Neue"/>
                <a:cs typeface="Helvetica Neue"/>
              </a:rPr>
              <a:t>AI creates the priorities. You choose what matters.</a:t>
            </a:r>
          </a:p>
        </p:txBody>
      </p:sp>
    </p:spTree>
    <p:extLst>
      <p:ext uri="{BB962C8B-B14F-4D97-AF65-F5344CB8AC3E}">
        <p14:creationId xmlns:p14="http://schemas.microsoft.com/office/powerpoint/2010/main" val="1367359088"/>
      </p:ext>
    </p:extLst>
  </p:cSld>
</p:sld>
</file>

<file path=ppt/slides/slide5.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2AD98C7-A27F-41BB-AFC5-8F6C6FF7F5E8}"/>
              </a:ext>
            </a:extLst>
          </p:cNvPr>
          <p:cNvSpPr>
            <a:spLocks xmlns:a="http://schemas.openxmlformats.org/drawingml/2006/main" noGrp="1"/>
          </p:cNvSpPr>
          <p:nvPr/>
        </p:nvSpPr>
        <p:spPr>
          <a:xfrm xmlns:a="http://schemas.openxmlformats.org/drawingml/2006/main">
            <a:off x="609600" y="266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5BE7FF"/>
                </a:solidFill>
                <a:latin typeface="Helvetica Neue"/>
                <a:ea typeface="Helvetica Neue"/>
                <a:cs typeface="Helvetica Neue"/>
              </a:defRPr>
            </a:pPr>
            <a:r>
              <a:rPr sz="1350" b="1">
                <a:solidFill>
                  <a:srgbClr val="5BE7FF"/>
                </a:solidFill>
                <a:latin typeface="Helvetica Neue"/>
                <a:ea typeface="Helvetica Neue"/>
                <a:cs typeface="Helvetica Neue"/>
              </a:rPr>
              <a:t>FINDWISE</a:t>
            </a:r>
          </a:p>
        </p:txBody>
      </p:sp>
      <p:sp>
        <p:nvSpPr>
          <p:cNvPr id="2" name="">
            <a:extLst xmlns:a="http://schemas.openxmlformats.org/drawingml/2006/main">
              <a:ext uri="{FF2B5EF4-FFF2-40B4-BE49-F238E27FC236}">
                <a16:creationId xmlns:a16="http://schemas.microsoft.com/office/drawing/2014/main" id="{1E4CCB35-1279-48C9-8B6A-07E9483FB024}"/>
              </a:ext>
            </a:extLst>
          </p:cNvPr>
          <p:cNvSpPr>
            <a:spLocks xmlns:a="http://schemas.openxmlformats.org/drawingml/2006/main" noGrp="1"/>
          </p:cNvSpPr>
          <p:nvPr/>
        </p:nvSpPr>
        <p:spPr>
          <a:xfrm xmlns:a="http://schemas.openxmlformats.org/drawingml/2006/main">
            <a:off x="10668000" y="2667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94A6BF"/>
                </a:solidFill>
                <a:latin typeface="Helvetica Neue"/>
                <a:ea typeface="Helvetica Neue"/>
                <a:cs typeface="Helvetica Neue"/>
              </a:defRPr>
            </a:pPr>
            <a:r>
              <a:rPr sz="1350" b="0">
                <a:solidFill>
                  <a:srgbClr val="94A6BF"/>
                </a:solidFill>
                <a:latin typeface="Helvetica Neue"/>
                <a:ea typeface="Helvetica Neue"/>
                <a:cs typeface="Helvetica Neue"/>
              </a:rPr>
              <a:t>05 / 10</a:t>
            </a:r>
          </a:p>
        </p:txBody>
      </p:sp>
      <p:sp>
        <p:nvSpPr>
          <p:cNvPr id="3" name="">
            <a:extLst xmlns:a="http://schemas.openxmlformats.org/drawingml/2006/main">
              <a:ext uri="{FF2B5EF4-FFF2-40B4-BE49-F238E27FC236}">
                <a16:creationId xmlns:a16="http://schemas.microsoft.com/office/drawing/2014/main" id="{6906F891-2C16-48AF-ABAE-0800CE544EBA}"/>
              </a:ext>
            </a:extLst>
          </p:cNvPr>
          <p:cNvSpPr>
            <a:spLocks xmlns:a="http://schemas.openxmlformats.org/drawingml/2006/main" noGrp="1"/>
          </p:cNvSpPr>
          <p:nvPr/>
        </p:nvSpPr>
        <p:spPr>
          <a:xfrm xmlns:a="http://schemas.openxmlformats.org/drawingml/2006/main">
            <a:off x="609600" y="876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b="1">
                <a:solidFill>
                  <a:srgbClr val="F4F8FF"/>
                </a:solidFill>
                <a:latin typeface="Helvetica Neue"/>
                <a:ea typeface="Helvetica Neue"/>
                <a:cs typeface="Helvetica Neue"/>
              </a:defRPr>
            </a:pPr>
            <a:r>
              <a:rPr sz="4050" b="1">
                <a:solidFill>
                  <a:srgbClr val="F4F8FF"/>
                </a:solidFill>
                <a:latin typeface="Helvetica Neue"/>
                <a:ea typeface="Helvetica Neue"/>
                <a:cs typeface="Helvetica Neue"/>
              </a:rPr>
              <a:t>Expert Council</a:t>
            </a:r>
          </a:p>
        </p:txBody>
      </p:sp>
      <p:sp>
        <p:nvSpPr>
          <p:cNvPr id="4" name="">
            <a:extLst xmlns:a="http://schemas.openxmlformats.org/drawingml/2006/main">
              <a:ext uri="{FF2B5EF4-FFF2-40B4-BE49-F238E27FC236}">
                <a16:creationId xmlns:a16="http://schemas.microsoft.com/office/drawing/2014/main" id="{31DB0563-8B3A-402F-B60E-EF8F53816F51}"/>
              </a:ext>
            </a:extLst>
          </p:cNvPr>
          <p:cNvSpPr>
            <a:spLocks xmlns:a="http://schemas.openxmlformats.org/drawingml/2006/main" noGrp="1"/>
          </p:cNvSpPr>
          <p:nvPr/>
        </p:nvSpPr>
        <p:spPr>
          <a:xfrm xmlns:a="http://schemas.openxmlformats.org/drawingml/2006/main">
            <a:off x="609600" y="2219325"/>
            <a:ext cx="3524250" cy="1562100"/>
          </a:xfrm>
          <a:prstGeom xmlns:a="http://schemas.openxmlformats.org/drawingml/2006/main" prst="roundRect">
            <a:avLst>
              <a:gd name="adj" fmla="val 4878"/>
            </a:avLst>
          </a:prstGeom>
          <a:solidFill xmlns:a="http://schemas.openxmlformats.org/drawingml/2006/main">
            <a:srgbClr val="141D2B"/>
          </a:solidFill>
          <a:ln xmlns:a="http://schemas.openxmlformats.org/drawingml/2006/main" w="9525">
            <a:solidFill>
              <a:srgbClr val="29384E"/>
            </a:solidFill>
          </a:ln>
        </p:spPr>
      </p:sp>
      <p:sp>
        <p:nvSpPr>
          <p:cNvPr id="5" name="">
            <a:extLst xmlns:a="http://schemas.openxmlformats.org/drawingml/2006/main">
              <a:ext uri="{FF2B5EF4-FFF2-40B4-BE49-F238E27FC236}">
                <a16:creationId xmlns:a16="http://schemas.microsoft.com/office/drawing/2014/main" id="{267ED12C-9C45-458F-AD28-34C16247966C}"/>
              </a:ext>
            </a:extLst>
          </p:cNvPr>
          <p:cNvSpPr>
            <a:spLocks xmlns:a="http://schemas.openxmlformats.org/drawingml/2006/main" noGrp="1"/>
          </p:cNvSpPr>
          <p:nvPr/>
        </p:nvSpPr>
        <p:spPr>
          <a:xfrm xmlns:a="http://schemas.openxmlformats.org/drawingml/2006/main">
            <a:off x="800100" y="24098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8B5CF6"/>
                </a:solidFill>
                <a:latin typeface="Helvetica Neue"/>
                <a:ea typeface="Helvetica Neue"/>
                <a:cs typeface="Helvetica Neue"/>
              </a:defRPr>
            </a:pPr>
            <a:r>
              <a:rPr sz="1950" b="1">
                <a:solidFill>
                  <a:srgbClr val="8B5CF6"/>
                </a:solidFill>
                <a:latin typeface="Helvetica Neue"/>
                <a:ea typeface="Helvetica Neue"/>
                <a:cs typeface="Helvetica Neue"/>
              </a:rPr>
              <a:t>●  Style Expert</a:t>
            </a:r>
          </a:p>
        </p:txBody>
      </p:sp>
      <p:sp>
        <p:nvSpPr>
          <p:cNvPr id="6" name="">
            <a:extLst xmlns:a="http://schemas.openxmlformats.org/drawingml/2006/main">
              <a:ext uri="{FF2B5EF4-FFF2-40B4-BE49-F238E27FC236}">
                <a16:creationId xmlns:a16="http://schemas.microsoft.com/office/drawing/2014/main" id="{D1761C10-5C24-4E01-84F4-8468EAFFEBFB}"/>
              </a:ext>
            </a:extLst>
          </p:cNvPr>
          <p:cNvSpPr>
            <a:spLocks xmlns:a="http://schemas.openxmlformats.org/drawingml/2006/main" noGrp="1"/>
          </p:cNvSpPr>
          <p:nvPr/>
        </p:nvSpPr>
        <p:spPr>
          <a:xfrm xmlns:a="http://schemas.openxmlformats.org/drawingml/2006/main">
            <a:off x="800100" y="2990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F4F8FF"/>
                </a:solidFill>
                <a:latin typeface="Helvetica Neue"/>
                <a:ea typeface="Helvetica Neue"/>
                <a:cs typeface="Helvetica Neue"/>
              </a:defRPr>
            </a:pPr>
            <a:r>
              <a:rPr sz="1950" b="0">
                <a:solidFill>
                  <a:srgbClr val="F4F8FF"/>
                </a:solidFill>
                <a:latin typeface="Helvetica Neue"/>
                <a:ea typeface="Helvetica Neue"/>
                <a:cs typeface="Helvetica Neue"/>
              </a:rPr>
              <a:t>Fits your minimalist taste.</a:t>
            </a:r>
          </a:p>
        </p:txBody>
      </p:sp>
      <p:sp>
        <p:nvSpPr>
          <p:cNvPr id="7" name="">
            <a:extLst xmlns:a="http://schemas.openxmlformats.org/drawingml/2006/main">
              <a:ext uri="{FF2B5EF4-FFF2-40B4-BE49-F238E27FC236}">
                <a16:creationId xmlns:a16="http://schemas.microsoft.com/office/drawing/2014/main" id="{9C36FB30-F1F1-4DA0-842A-0047E6D27162}"/>
              </a:ext>
            </a:extLst>
          </p:cNvPr>
          <p:cNvSpPr>
            <a:spLocks xmlns:a="http://schemas.openxmlformats.org/drawingml/2006/main" noGrp="1"/>
          </p:cNvSpPr>
          <p:nvPr/>
        </p:nvSpPr>
        <p:spPr>
          <a:xfrm xmlns:a="http://schemas.openxmlformats.org/drawingml/2006/main">
            <a:off x="4324350" y="2219325"/>
            <a:ext cx="3524250" cy="1562100"/>
          </a:xfrm>
          <a:prstGeom xmlns:a="http://schemas.openxmlformats.org/drawingml/2006/main" prst="roundRect">
            <a:avLst>
              <a:gd name="adj" fmla="val 4878"/>
            </a:avLst>
          </a:prstGeom>
          <a:solidFill xmlns:a="http://schemas.openxmlformats.org/drawingml/2006/main">
            <a:srgbClr val="141D2B"/>
          </a:solidFill>
          <a:ln xmlns:a="http://schemas.openxmlformats.org/drawingml/2006/main" w="9525">
            <a:solidFill>
              <a:srgbClr val="29384E"/>
            </a:solidFill>
          </a:ln>
        </p:spPr>
      </p:sp>
      <p:sp>
        <p:nvSpPr>
          <p:cNvPr id="8" name="">
            <a:extLst xmlns:a="http://schemas.openxmlformats.org/drawingml/2006/main">
              <a:ext uri="{FF2B5EF4-FFF2-40B4-BE49-F238E27FC236}">
                <a16:creationId xmlns:a16="http://schemas.microsoft.com/office/drawing/2014/main" id="{1832D13B-0F2C-4174-A87C-626AA1F5423A}"/>
              </a:ext>
            </a:extLst>
          </p:cNvPr>
          <p:cNvSpPr>
            <a:spLocks xmlns:a="http://schemas.openxmlformats.org/drawingml/2006/main" noGrp="1"/>
          </p:cNvSpPr>
          <p:nvPr/>
        </p:nvSpPr>
        <p:spPr>
          <a:xfrm xmlns:a="http://schemas.openxmlformats.org/drawingml/2006/main">
            <a:off x="4514850" y="24098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5BE7FF"/>
                </a:solidFill>
                <a:latin typeface="Helvetica Neue"/>
                <a:ea typeface="Helvetica Neue"/>
                <a:cs typeface="Helvetica Neue"/>
              </a:defRPr>
            </a:pPr>
            <a:r>
              <a:rPr sz="1950" b="1">
                <a:solidFill>
                  <a:srgbClr val="5BE7FF"/>
                </a:solidFill>
                <a:latin typeface="Helvetica Neue"/>
                <a:ea typeface="Helvetica Neue"/>
                <a:cs typeface="Helvetica Neue"/>
              </a:rPr>
              <a:t>●  Travel Expert</a:t>
            </a:r>
          </a:p>
        </p:txBody>
      </p:sp>
      <p:sp>
        <p:nvSpPr>
          <p:cNvPr id="9" name="">
            <a:extLst xmlns:a="http://schemas.openxmlformats.org/drawingml/2006/main">
              <a:ext uri="{FF2B5EF4-FFF2-40B4-BE49-F238E27FC236}">
                <a16:creationId xmlns:a16="http://schemas.microsoft.com/office/drawing/2014/main" id="{185D20CF-F51A-4E09-B159-2BCFA4FBAD1E}"/>
              </a:ext>
            </a:extLst>
          </p:cNvPr>
          <p:cNvSpPr>
            <a:spLocks xmlns:a="http://schemas.openxmlformats.org/drawingml/2006/main" noGrp="1"/>
          </p:cNvSpPr>
          <p:nvPr/>
        </p:nvSpPr>
        <p:spPr>
          <a:xfrm xmlns:a="http://schemas.openxmlformats.org/drawingml/2006/main">
            <a:off x="4514850" y="2990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F4F8FF"/>
                </a:solidFill>
                <a:latin typeface="Helvetica Neue"/>
                <a:ea typeface="Helvetica Neue"/>
                <a:cs typeface="Helvetica Neue"/>
              </a:defRPr>
            </a:pPr>
            <a:r>
              <a:rPr sz="1950" b="0">
                <a:solidFill>
                  <a:srgbClr val="F4F8FF"/>
                </a:solidFill>
                <a:latin typeface="Helvetica Neue"/>
                <a:ea typeface="Helvetica Neue"/>
                <a:cs typeface="Helvetica Neue"/>
              </a:rPr>
              <a:t>Organization changes the shortlist.</a:t>
            </a:r>
          </a:p>
        </p:txBody>
      </p:sp>
      <p:sp>
        <p:nvSpPr>
          <p:cNvPr id="10" name="">
            <a:extLst xmlns:a="http://schemas.openxmlformats.org/drawingml/2006/main">
              <a:ext uri="{FF2B5EF4-FFF2-40B4-BE49-F238E27FC236}">
                <a16:creationId xmlns:a16="http://schemas.microsoft.com/office/drawing/2014/main" id="{3F8F0B27-0D8C-450B-8325-7F4AF655BFF8}"/>
              </a:ext>
            </a:extLst>
          </p:cNvPr>
          <p:cNvSpPr>
            <a:spLocks xmlns:a="http://schemas.openxmlformats.org/drawingml/2006/main" noGrp="1"/>
          </p:cNvSpPr>
          <p:nvPr/>
        </p:nvSpPr>
        <p:spPr>
          <a:xfrm xmlns:a="http://schemas.openxmlformats.org/drawingml/2006/main">
            <a:off x="8039100" y="2219325"/>
            <a:ext cx="3524250" cy="1562100"/>
          </a:xfrm>
          <a:prstGeom xmlns:a="http://schemas.openxmlformats.org/drawingml/2006/main" prst="roundRect">
            <a:avLst>
              <a:gd name="adj" fmla="val 4878"/>
            </a:avLst>
          </a:prstGeom>
          <a:solidFill xmlns:a="http://schemas.openxmlformats.org/drawingml/2006/main">
            <a:srgbClr val="141D2B"/>
          </a:solidFill>
          <a:ln xmlns:a="http://schemas.openxmlformats.org/drawingml/2006/main" w="9525">
            <a:solidFill>
              <a:srgbClr val="29384E"/>
            </a:solidFill>
          </a:ln>
        </p:spPr>
      </p:sp>
      <p:sp>
        <p:nvSpPr>
          <p:cNvPr id="11" name="">
            <a:extLst xmlns:a="http://schemas.openxmlformats.org/drawingml/2006/main">
              <a:ext uri="{FF2B5EF4-FFF2-40B4-BE49-F238E27FC236}">
                <a16:creationId xmlns:a16="http://schemas.microsoft.com/office/drawing/2014/main" id="{EFA2CD27-A525-4DAA-89B9-5B9990371A37}"/>
              </a:ext>
            </a:extLst>
          </p:cNvPr>
          <p:cNvSpPr>
            <a:spLocks xmlns:a="http://schemas.openxmlformats.org/drawingml/2006/main" noGrp="1"/>
          </p:cNvSpPr>
          <p:nvPr/>
        </p:nvSpPr>
        <p:spPr>
          <a:xfrm xmlns:a="http://schemas.openxmlformats.org/drawingml/2006/main">
            <a:off x="8229600" y="24098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4ADE80"/>
                </a:solidFill>
                <a:latin typeface="Helvetica Neue"/>
                <a:ea typeface="Helvetica Neue"/>
                <a:cs typeface="Helvetica Neue"/>
              </a:defRPr>
            </a:pPr>
            <a:r>
              <a:rPr sz="1950" b="1">
                <a:solidFill>
                  <a:srgbClr val="4ADE80"/>
                </a:solidFill>
                <a:latin typeface="Helvetica Neue"/>
                <a:ea typeface="Helvetica Neue"/>
                <a:cs typeface="Helvetica Neue"/>
              </a:rPr>
              <a:t>●  Durability Expert</a:t>
            </a:r>
          </a:p>
        </p:txBody>
      </p:sp>
      <p:sp>
        <p:nvSpPr>
          <p:cNvPr id="12" name="">
            <a:extLst xmlns:a="http://schemas.openxmlformats.org/drawingml/2006/main">
              <a:ext uri="{FF2B5EF4-FFF2-40B4-BE49-F238E27FC236}">
                <a16:creationId xmlns:a16="http://schemas.microsoft.com/office/drawing/2014/main" id="{E1B6190A-978C-4A6D-88D0-26E45E420CE5}"/>
              </a:ext>
            </a:extLst>
          </p:cNvPr>
          <p:cNvSpPr>
            <a:spLocks xmlns:a="http://schemas.openxmlformats.org/drawingml/2006/main" noGrp="1"/>
          </p:cNvSpPr>
          <p:nvPr/>
        </p:nvSpPr>
        <p:spPr>
          <a:xfrm xmlns:a="http://schemas.openxmlformats.org/drawingml/2006/main">
            <a:off x="8229600" y="2990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F4F8FF"/>
                </a:solidFill>
                <a:latin typeface="Helvetica Neue"/>
                <a:ea typeface="Helvetica Neue"/>
                <a:cs typeface="Helvetica Neue"/>
              </a:defRPr>
            </a:pPr>
            <a:r>
              <a:rPr sz="1950" b="0">
                <a:solidFill>
                  <a:srgbClr val="F4F8FF"/>
                </a:solidFill>
                <a:latin typeface="Helvetica Neue"/>
                <a:ea typeface="Helvetica Neue"/>
                <a:cs typeface="Helvetica Neue"/>
              </a:rPr>
              <a:t>Check materials and warranty.</a:t>
            </a:r>
          </a:p>
        </p:txBody>
      </p:sp>
      <p:sp>
        <p:nvSpPr>
          <p:cNvPr id="13" name="">
            <a:extLst xmlns:a="http://schemas.openxmlformats.org/drawingml/2006/main">
              <a:ext uri="{FF2B5EF4-FFF2-40B4-BE49-F238E27FC236}">
                <a16:creationId xmlns:a16="http://schemas.microsoft.com/office/drawing/2014/main" id="{550DB031-6438-4C44-AFFA-C01627133346}"/>
              </a:ext>
            </a:extLst>
          </p:cNvPr>
          <p:cNvSpPr>
            <a:spLocks xmlns:a="http://schemas.openxmlformats.org/drawingml/2006/main" noGrp="1"/>
          </p:cNvSpPr>
          <p:nvPr/>
        </p:nvSpPr>
        <p:spPr>
          <a:xfrm xmlns:a="http://schemas.openxmlformats.org/drawingml/2006/main">
            <a:off x="609600" y="4067175"/>
            <a:ext cx="3524250" cy="1562100"/>
          </a:xfrm>
          <a:prstGeom xmlns:a="http://schemas.openxmlformats.org/drawingml/2006/main" prst="roundRect">
            <a:avLst>
              <a:gd name="adj" fmla="val 4878"/>
            </a:avLst>
          </a:prstGeom>
          <a:solidFill xmlns:a="http://schemas.openxmlformats.org/drawingml/2006/main">
            <a:srgbClr val="141D2B"/>
          </a:solidFill>
          <a:ln xmlns:a="http://schemas.openxmlformats.org/drawingml/2006/main" w="9525">
            <a:solidFill>
              <a:srgbClr val="29384E"/>
            </a:solidFill>
          </a:ln>
        </p:spPr>
      </p:sp>
      <p:sp>
        <p:nvSpPr>
          <p:cNvPr id="14" name="">
            <a:extLst xmlns:a="http://schemas.openxmlformats.org/drawingml/2006/main">
              <a:ext uri="{FF2B5EF4-FFF2-40B4-BE49-F238E27FC236}">
                <a16:creationId xmlns:a16="http://schemas.microsoft.com/office/drawing/2014/main" id="{CB1817F3-F7E7-47FA-A94B-08E46977275C}"/>
              </a:ext>
            </a:extLst>
          </p:cNvPr>
          <p:cNvSpPr>
            <a:spLocks xmlns:a="http://schemas.openxmlformats.org/drawingml/2006/main" noGrp="1"/>
          </p:cNvSpPr>
          <p:nvPr/>
        </p:nvSpPr>
        <p:spPr>
          <a:xfrm xmlns:a="http://schemas.openxmlformats.org/drawingml/2006/main">
            <a:off x="800100" y="42576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FACC15"/>
                </a:solidFill>
                <a:latin typeface="Helvetica Neue"/>
                <a:ea typeface="Helvetica Neue"/>
                <a:cs typeface="Helvetica Neue"/>
              </a:defRPr>
            </a:pPr>
            <a:r>
              <a:rPr sz="1950" b="1">
                <a:solidFill>
                  <a:srgbClr val="FACC15"/>
                </a:solidFill>
                <a:latin typeface="Helvetica Neue"/>
                <a:ea typeface="Helvetica Neue"/>
                <a:cs typeface="Helvetica Neue"/>
              </a:rPr>
              <a:t>●  Budget Expert</a:t>
            </a:r>
          </a:p>
        </p:txBody>
      </p:sp>
      <p:sp>
        <p:nvSpPr>
          <p:cNvPr id="15" name="">
            <a:extLst xmlns:a="http://schemas.openxmlformats.org/drawingml/2006/main">
              <a:ext uri="{FF2B5EF4-FFF2-40B4-BE49-F238E27FC236}">
                <a16:creationId xmlns:a16="http://schemas.microsoft.com/office/drawing/2014/main" id="{08256962-1350-4722-B378-1699B26C0C0D}"/>
              </a:ext>
            </a:extLst>
          </p:cNvPr>
          <p:cNvSpPr>
            <a:spLocks xmlns:a="http://schemas.openxmlformats.org/drawingml/2006/main" noGrp="1"/>
          </p:cNvSpPr>
          <p:nvPr/>
        </p:nvSpPr>
        <p:spPr>
          <a:xfrm xmlns:a="http://schemas.openxmlformats.org/drawingml/2006/main">
            <a:off x="800100" y="48387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F4F8FF"/>
                </a:solidFill>
                <a:latin typeface="Helvetica Neue"/>
                <a:ea typeface="Helvetica Neue"/>
                <a:cs typeface="Helvetica Neue"/>
              </a:defRPr>
            </a:pPr>
            <a:r>
              <a:rPr sz="1950" b="0">
                <a:solidFill>
                  <a:srgbClr val="F4F8FF"/>
                </a:solidFill>
                <a:latin typeface="Helvetica Neue"/>
                <a:ea typeface="Helvetica Neue"/>
                <a:cs typeface="Helvetica Neue"/>
              </a:rPr>
              <a:t>Keep the $200 limit explicit.</a:t>
            </a:r>
          </a:p>
        </p:txBody>
      </p:sp>
      <p:sp>
        <p:nvSpPr>
          <p:cNvPr id="16" name="">
            <a:extLst xmlns:a="http://schemas.openxmlformats.org/drawingml/2006/main">
              <a:ext uri="{FF2B5EF4-FFF2-40B4-BE49-F238E27FC236}">
                <a16:creationId xmlns:a16="http://schemas.microsoft.com/office/drawing/2014/main" id="{349C456C-F45B-421F-A8F0-D7ACF8D0A055}"/>
              </a:ext>
            </a:extLst>
          </p:cNvPr>
          <p:cNvSpPr>
            <a:spLocks xmlns:a="http://schemas.openxmlformats.org/drawingml/2006/main" noGrp="1"/>
          </p:cNvSpPr>
          <p:nvPr/>
        </p:nvSpPr>
        <p:spPr>
          <a:xfrm xmlns:a="http://schemas.openxmlformats.org/drawingml/2006/main">
            <a:off x="4324350" y="4067175"/>
            <a:ext cx="3524250" cy="1562100"/>
          </a:xfrm>
          <a:prstGeom xmlns:a="http://schemas.openxmlformats.org/drawingml/2006/main" prst="roundRect">
            <a:avLst>
              <a:gd name="adj" fmla="val 4878"/>
            </a:avLst>
          </a:prstGeom>
          <a:solidFill xmlns:a="http://schemas.openxmlformats.org/drawingml/2006/main">
            <a:srgbClr val="141D2B"/>
          </a:solidFill>
          <a:ln xmlns:a="http://schemas.openxmlformats.org/drawingml/2006/main" w="9525">
            <a:solidFill>
              <a:srgbClr val="29384E"/>
            </a:solidFill>
          </a:ln>
        </p:spPr>
      </p:sp>
      <p:sp>
        <p:nvSpPr>
          <p:cNvPr id="17" name="">
            <a:extLst xmlns:a="http://schemas.openxmlformats.org/drawingml/2006/main">
              <a:ext uri="{FF2B5EF4-FFF2-40B4-BE49-F238E27FC236}">
                <a16:creationId xmlns:a16="http://schemas.microsoft.com/office/drawing/2014/main" id="{7886D703-7371-4AAD-B1AE-996F583EE366}"/>
              </a:ext>
            </a:extLst>
          </p:cNvPr>
          <p:cNvSpPr>
            <a:spLocks xmlns:a="http://schemas.openxmlformats.org/drawingml/2006/main" noGrp="1"/>
          </p:cNvSpPr>
          <p:nvPr/>
        </p:nvSpPr>
        <p:spPr>
          <a:xfrm xmlns:a="http://schemas.openxmlformats.org/drawingml/2006/main">
            <a:off x="4514850" y="42576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F4F8FF"/>
                </a:solidFill>
                <a:latin typeface="Helvetica Neue"/>
                <a:ea typeface="Helvetica Neue"/>
                <a:cs typeface="Helvetica Neue"/>
              </a:defRPr>
            </a:pPr>
            <a:r>
              <a:rPr sz="1950" b="1">
                <a:solidFill>
                  <a:srgbClr val="F4F8FF"/>
                </a:solidFill>
                <a:latin typeface="Helvetica Neue"/>
                <a:ea typeface="Helvetica Neue"/>
                <a:cs typeface="Helvetica Neue"/>
              </a:rPr>
              <a:t>●  Memory Expert</a:t>
            </a:r>
          </a:p>
        </p:txBody>
      </p:sp>
      <p:sp>
        <p:nvSpPr>
          <p:cNvPr id="18" name="">
            <a:extLst xmlns:a="http://schemas.openxmlformats.org/drawingml/2006/main">
              <a:ext uri="{FF2B5EF4-FFF2-40B4-BE49-F238E27FC236}">
                <a16:creationId xmlns:a16="http://schemas.microsoft.com/office/drawing/2014/main" id="{543214DF-2C0D-48AF-A600-D88D1D28E8E7}"/>
              </a:ext>
            </a:extLst>
          </p:cNvPr>
          <p:cNvSpPr>
            <a:spLocks xmlns:a="http://schemas.openxmlformats.org/drawingml/2006/main" noGrp="1"/>
          </p:cNvSpPr>
          <p:nvPr/>
        </p:nvSpPr>
        <p:spPr>
          <a:xfrm xmlns:a="http://schemas.openxmlformats.org/drawingml/2006/main">
            <a:off x="4514850" y="48387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F4F8FF"/>
                </a:solidFill>
                <a:latin typeface="Helvetica Neue"/>
                <a:ea typeface="Helvetica Neue"/>
                <a:cs typeface="Helvetica Neue"/>
              </a:defRPr>
            </a:pPr>
            <a:r>
              <a:rPr sz="1950" b="0">
                <a:solidFill>
                  <a:srgbClr val="F4F8FF"/>
                </a:solidFill>
                <a:latin typeface="Helvetica Neue"/>
                <a:ea typeface="Helvetica Neue"/>
                <a:cs typeface="Helvetica Neue"/>
              </a:rPr>
              <a:t>Past likes are clues. Context wins.</a:t>
            </a:r>
          </a:p>
        </p:txBody>
      </p:sp>
      <p:sp>
        <p:nvSpPr>
          <p:cNvPr id="19" name="">
            <a:extLst xmlns:a="http://schemas.openxmlformats.org/drawingml/2006/main">
              <a:ext uri="{FF2B5EF4-FFF2-40B4-BE49-F238E27FC236}">
                <a16:creationId xmlns:a16="http://schemas.microsoft.com/office/drawing/2014/main" id="{30EC70FD-8105-481F-9C21-D9CD2C693D34}"/>
              </a:ext>
            </a:extLst>
          </p:cNvPr>
          <p:cNvSpPr>
            <a:spLocks xmlns:a="http://schemas.openxmlformats.org/drawingml/2006/main" noGrp="1"/>
          </p:cNvSpPr>
          <p:nvPr/>
        </p:nvSpPr>
        <p:spPr>
          <a:xfrm xmlns:a="http://schemas.openxmlformats.org/drawingml/2006/main">
            <a:off x="609600" y="60388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Specialists contribute. Later reviewers read the discussion.</a:t>
            </a:r>
          </a:p>
        </p:txBody>
      </p:sp>
    </p:spTree>
    <p:extLst>
      <p:ext uri="{BB962C8B-B14F-4D97-AF65-F5344CB8AC3E}">
        <p14:creationId xmlns:p14="http://schemas.microsoft.com/office/powerpoint/2010/main" val="1289857065"/>
      </p:ext>
    </p:extLst>
  </p:cSld>
</p:sld>
</file>

<file path=ppt/slides/slide6.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186162F-E8A0-4ACE-8B4F-9EEFA070E1EB}"/>
              </a:ext>
            </a:extLst>
          </p:cNvPr>
          <p:cNvSpPr>
            <a:spLocks xmlns:a="http://schemas.openxmlformats.org/drawingml/2006/main" noGrp="1"/>
          </p:cNvSpPr>
          <p:nvPr/>
        </p:nvSpPr>
        <p:spPr>
          <a:xfrm xmlns:a="http://schemas.openxmlformats.org/drawingml/2006/main">
            <a:off x="609600" y="266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5BE7FF"/>
                </a:solidFill>
                <a:latin typeface="Helvetica Neue"/>
                <a:ea typeface="Helvetica Neue"/>
                <a:cs typeface="Helvetica Neue"/>
              </a:defRPr>
            </a:pPr>
            <a:r>
              <a:rPr sz="1350" b="1">
                <a:solidFill>
                  <a:srgbClr val="5BE7FF"/>
                </a:solidFill>
                <a:latin typeface="Helvetica Neue"/>
                <a:ea typeface="Helvetica Neue"/>
                <a:cs typeface="Helvetica Neue"/>
              </a:rPr>
              <a:t>FINDWISE</a:t>
            </a:r>
          </a:p>
        </p:txBody>
      </p:sp>
      <p:sp>
        <p:nvSpPr>
          <p:cNvPr id="2" name="">
            <a:extLst xmlns:a="http://schemas.openxmlformats.org/drawingml/2006/main">
              <a:ext uri="{FF2B5EF4-FFF2-40B4-BE49-F238E27FC236}">
                <a16:creationId xmlns:a16="http://schemas.microsoft.com/office/drawing/2014/main" id="{42681407-74C0-40F7-A7FB-17A90F2B9781}"/>
              </a:ext>
            </a:extLst>
          </p:cNvPr>
          <p:cNvSpPr>
            <a:spLocks xmlns:a="http://schemas.openxmlformats.org/drawingml/2006/main" noGrp="1"/>
          </p:cNvSpPr>
          <p:nvPr/>
        </p:nvSpPr>
        <p:spPr>
          <a:xfrm xmlns:a="http://schemas.openxmlformats.org/drawingml/2006/main">
            <a:off x="10668000" y="2667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94A6BF"/>
                </a:solidFill>
                <a:latin typeface="Helvetica Neue"/>
                <a:ea typeface="Helvetica Neue"/>
                <a:cs typeface="Helvetica Neue"/>
              </a:defRPr>
            </a:pPr>
            <a:r>
              <a:rPr sz="1350" b="0">
                <a:solidFill>
                  <a:srgbClr val="94A6BF"/>
                </a:solidFill>
                <a:latin typeface="Helvetica Neue"/>
                <a:ea typeface="Helvetica Neue"/>
                <a:cs typeface="Helvetica Neue"/>
              </a:rPr>
              <a:t>06 / 10</a:t>
            </a:r>
          </a:p>
        </p:txBody>
      </p:sp>
      <p:sp>
        <p:nvSpPr>
          <p:cNvPr id="3" name="">
            <a:extLst xmlns:a="http://schemas.openxmlformats.org/drawingml/2006/main">
              <a:ext uri="{FF2B5EF4-FFF2-40B4-BE49-F238E27FC236}">
                <a16:creationId xmlns:a16="http://schemas.microsoft.com/office/drawing/2014/main" id="{C1013474-3325-40E8-81D1-5B03A19A0E05}"/>
              </a:ext>
            </a:extLst>
          </p:cNvPr>
          <p:cNvSpPr>
            <a:spLocks xmlns:a="http://schemas.openxmlformats.org/drawingml/2006/main" noGrp="1"/>
          </p:cNvSpPr>
          <p:nvPr/>
        </p:nvSpPr>
        <p:spPr>
          <a:xfrm xmlns:a="http://schemas.openxmlformats.org/drawingml/2006/main">
            <a:off x="609600" y="876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b="1">
                <a:solidFill>
                  <a:srgbClr val="F4F8FF"/>
                </a:solidFill>
                <a:latin typeface="Helvetica Neue"/>
                <a:ea typeface="Helvetica Neue"/>
                <a:cs typeface="Helvetica Neue"/>
              </a:defRPr>
            </a:pPr>
            <a:r>
              <a:rPr sz="4050" b="1">
                <a:solidFill>
                  <a:srgbClr val="F4F8FF"/>
                </a:solidFill>
                <a:latin typeface="Helvetica Neue"/>
                <a:ea typeface="Helvetica Neue"/>
                <a:cs typeface="Helvetica Neue"/>
              </a:rPr>
              <a:t>Your finalists</a:t>
            </a:r>
          </a:p>
        </p:txBody>
      </p:sp>
      <p:sp>
        <p:nvSpPr>
          <p:cNvPr id="4" name="">
            <a:extLst xmlns:a="http://schemas.openxmlformats.org/drawingml/2006/main">
              <a:ext uri="{FF2B5EF4-FFF2-40B4-BE49-F238E27FC236}">
                <a16:creationId xmlns:a16="http://schemas.microsoft.com/office/drawing/2014/main" id="{DDC105CA-D4A7-40D4-A08E-BD7B550F3B23}"/>
              </a:ext>
            </a:extLst>
          </p:cNvPr>
          <p:cNvSpPr>
            <a:spLocks xmlns:a="http://schemas.openxmlformats.org/drawingml/2006/main" noGrp="1"/>
          </p:cNvSpPr>
          <p:nvPr/>
        </p:nvSpPr>
        <p:spPr>
          <a:xfrm xmlns:a="http://schemas.openxmlformats.org/drawingml/2006/main">
            <a:off x="609600" y="2000250"/>
            <a:ext cx="2609850" cy="3248025"/>
          </a:xfrm>
          <a:prstGeom xmlns:a="http://schemas.openxmlformats.org/drawingml/2006/main" prst="roundRect">
            <a:avLst>
              <a:gd name="adj" fmla="val 2920"/>
            </a:avLst>
          </a:prstGeom>
          <a:solidFill xmlns:a="http://schemas.openxmlformats.org/drawingml/2006/main">
            <a:srgbClr val="141D2B"/>
          </a:solidFill>
          <a:ln xmlns:a="http://schemas.openxmlformats.org/drawingml/2006/main" w="9525">
            <a:solidFill>
              <a:srgbClr val="29384E"/>
            </a:solidFill>
          </a:ln>
        </p:spPr>
      </p:sp>
      <p:sp>
        <p:nvSpPr>
          <p:cNvPr id="5" name="">
            <a:extLst xmlns:a="http://schemas.openxmlformats.org/drawingml/2006/main">
              <a:ext uri="{FF2B5EF4-FFF2-40B4-BE49-F238E27FC236}">
                <a16:creationId xmlns:a16="http://schemas.microsoft.com/office/drawing/2014/main" id="{DFD594EB-6A3D-4E47-859B-52B5F89FEA46}"/>
              </a:ext>
            </a:extLst>
          </p:cNvPr>
          <p:cNvSpPr>
            <a:spLocks xmlns:a="http://schemas.openxmlformats.org/drawingml/2006/main" noGrp="1"/>
          </p:cNvSpPr>
          <p:nvPr/>
        </p:nvSpPr>
        <p:spPr>
          <a:xfrm xmlns:a="http://schemas.openxmlformats.org/drawingml/2006/main">
            <a:off x="781050" y="2247900"/>
            <a:ext cx="22574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F4F8FF"/>
                </a:solidFill>
                <a:latin typeface="Helvetica Neue"/>
                <a:ea typeface="Helvetica Neue"/>
                <a:cs typeface="Helvetica Neue"/>
              </a:defRPr>
            </a:pPr>
            <a:r>
              <a:rPr sz="2100" b="1">
                <a:solidFill>
                  <a:srgbClr val="F4F8FF"/>
                </a:solidFill>
                <a:latin typeface="Helvetica Neue"/>
                <a:ea typeface="Helvetica Neue"/>
                <a:cs typeface="Helvetica Neue"/>
              </a:rPr>
              <a:t>Aer</a:t>
            </a:r>
          </a:p>
        </p:txBody>
      </p:sp>
      <p:sp>
        <p:nvSpPr>
          <p:cNvPr id="6" name="">
            <a:extLst xmlns:a="http://schemas.openxmlformats.org/drawingml/2006/main">
              <a:ext uri="{FF2B5EF4-FFF2-40B4-BE49-F238E27FC236}">
                <a16:creationId xmlns:a16="http://schemas.microsoft.com/office/drawing/2014/main" id="{860528CA-0B6D-4EEF-BC93-B0C16648B30B}"/>
              </a:ext>
            </a:extLst>
          </p:cNvPr>
          <p:cNvSpPr>
            <a:spLocks xmlns:a="http://schemas.openxmlformats.org/drawingml/2006/main" noGrp="1"/>
          </p:cNvSpPr>
          <p:nvPr/>
        </p:nvSpPr>
        <p:spPr>
          <a:xfrm xmlns:a="http://schemas.openxmlformats.org/drawingml/2006/main">
            <a:off x="781050" y="2800350"/>
            <a:ext cx="228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250" b="1">
                <a:solidFill>
                  <a:srgbClr val="5BE7FF"/>
                </a:solidFill>
                <a:latin typeface="Helvetica Neue"/>
                <a:ea typeface="Helvetica Neue"/>
                <a:cs typeface="Helvetica Neue"/>
              </a:defRPr>
            </a:pPr>
            <a:r>
              <a:rPr sz="5250" b="1">
                <a:solidFill>
                  <a:srgbClr val="5BE7FF"/>
                </a:solidFill>
                <a:latin typeface="Helvetica Neue"/>
                <a:ea typeface="Helvetica Neue"/>
                <a:cs typeface="Helvetica Neue"/>
              </a:rPr>
              <a:t>94</a:t>
            </a:r>
          </a:p>
        </p:txBody>
      </p:sp>
      <p:graphicFrame>
        <p:nvGraphicFramePr>
          <p:cNvPr id="30" name="Chart"/>
          <p:cNvGraphicFramePr/>
          <p:nvPr/>
        </p:nvGraphicFramePr>
        <p:xfrm>
          <a:off xmlns:a="http://schemas.openxmlformats.org/drawingml/2006/main" x="704850" y="3686175"/>
          <a:ext xmlns:a="http://schemas.openxmlformats.org/drawingml/2006/main" cx="2419350" cy="1438275"/>
        </p:xfrm>
        <a:graphic xmlns:a="http://schemas.openxmlformats.org/drawingml/2006/main">
          <a:graphicData uri="http://schemas.openxmlformats.org/drawingml/2006/chart">
            <c:chart xmlns:r="http://schemas.openxmlformats.org/officeDocument/2006/relationships" xmlns:c="http://schemas.openxmlformats.org/drawingml/2006/chart" r:id="R58fdb1c0da394dc4"/>
          </a:graphicData>
        </a:graphic>
      </p:graphicFrame>
      <p:sp>
        <p:nvSpPr>
          <p:cNvPr id="8" name="">
            <a:extLst xmlns:a="http://schemas.openxmlformats.org/drawingml/2006/main">
              <a:ext uri="{FF2B5EF4-FFF2-40B4-BE49-F238E27FC236}">
                <a16:creationId xmlns:a16="http://schemas.microsoft.com/office/drawing/2014/main" id="{E82CE247-0979-4E57-A6DB-FF3B2582A8BE}"/>
              </a:ext>
            </a:extLst>
          </p:cNvPr>
          <p:cNvSpPr>
            <a:spLocks xmlns:a="http://schemas.openxmlformats.org/drawingml/2006/main" noGrp="1"/>
          </p:cNvSpPr>
          <p:nvPr/>
        </p:nvSpPr>
        <p:spPr>
          <a:xfrm xmlns:a="http://schemas.openxmlformats.org/drawingml/2006/main">
            <a:off x="3400425" y="2000250"/>
            <a:ext cx="2609850" cy="3248025"/>
          </a:xfrm>
          <a:prstGeom xmlns:a="http://schemas.openxmlformats.org/drawingml/2006/main" prst="roundRect">
            <a:avLst>
              <a:gd name="adj" fmla="val 2920"/>
            </a:avLst>
          </a:prstGeom>
          <a:solidFill xmlns:a="http://schemas.openxmlformats.org/drawingml/2006/main">
            <a:srgbClr val="141D2B"/>
          </a:solidFill>
          <a:ln xmlns:a="http://schemas.openxmlformats.org/drawingml/2006/main" w="9525">
            <a:solidFill>
              <a:srgbClr val="29384E"/>
            </a:solidFill>
          </a:ln>
        </p:spPr>
      </p:sp>
      <p:sp>
        <p:nvSpPr>
          <p:cNvPr id="9" name="">
            <a:extLst xmlns:a="http://schemas.openxmlformats.org/drawingml/2006/main">
              <a:ext uri="{FF2B5EF4-FFF2-40B4-BE49-F238E27FC236}">
                <a16:creationId xmlns:a16="http://schemas.microsoft.com/office/drawing/2014/main" id="{ABAD61D6-5D0F-400C-B278-1C2226955176}"/>
              </a:ext>
            </a:extLst>
          </p:cNvPr>
          <p:cNvSpPr>
            <a:spLocks xmlns:a="http://schemas.openxmlformats.org/drawingml/2006/main" noGrp="1"/>
          </p:cNvSpPr>
          <p:nvPr/>
        </p:nvSpPr>
        <p:spPr>
          <a:xfrm xmlns:a="http://schemas.openxmlformats.org/drawingml/2006/main">
            <a:off x="3571875" y="2247900"/>
            <a:ext cx="22574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F4F8FF"/>
                </a:solidFill>
                <a:latin typeface="Helvetica Neue"/>
                <a:ea typeface="Helvetica Neue"/>
                <a:cs typeface="Helvetica Neue"/>
              </a:defRPr>
            </a:pPr>
            <a:r>
              <a:rPr sz="2100" b="1">
                <a:solidFill>
                  <a:srgbClr val="F4F8FF"/>
                </a:solidFill>
                <a:latin typeface="Helvetica Neue"/>
                <a:ea typeface="Helvetica Neue"/>
                <a:cs typeface="Helvetica Neue"/>
              </a:rPr>
              <a:t>Peak Design</a:t>
            </a:r>
          </a:p>
        </p:txBody>
      </p:sp>
      <p:sp>
        <p:nvSpPr>
          <p:cNvPr id="10" name="">
            <a:extLst xmlns:a="http://schemas.openxmlformats.org/drawingml/2006/main">
              <a:ext uri="{FF2B5EF4-FFF2-40B4-BE49-F238E27FC236}">
                <a16:creationId xmlns:a16="http://schemas.microsoft.com/office/drawing/2014/main" id="{76EDC299-AB6A-4502-89FC-FE2B185B4396}"/>
              </a:ext>
            </a:extLst>
          </p:cNvPr>
          <p:cNvSpPr>
            <a:spLocks xmlns:a="http://schemas.openxmlformats.org/drawingml/2006/main" noGrp="1"/>
          </p:cNvSpPr>
          <p:nvPr/>
        </p:nvSpPr>
        <p:spPr>
          <a:xfrm xmlns:a="http://schemas.openxmlformats.org/drawingml/2006/main">
            <a:off x="3571875" y="2800350"/>
            <a:ext cx="228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250" b="1">
                <a:solidFill>
                  <a:srgbClr val="F4F8FF"/>
                </a:solidFill>
                <a:latin typeface="Helvetica Neue"/>
                <a:ea typeface="Helvetica Neue"/>
                <a:cs typeface="Helvetica Neue"/>
              </a:defRPr>
            </a:pPr>
            <a:r>
              <a:rPr sz="5250" b="1">
                <a:solidFill>
                  <a:srgbClr val="F4F8FF"/>
                </a:solidFill>
                <a:latin typeface="Helvetica Neue"/>
                <a:ea typeface="Helvetica Neue"/>
                <a:cs typeface="Helvetica Neue"/>
              </a:rPr>
              <a:t>91</a:t>
            </a:r>
          </a:p>
        </p:txBody>
      </p:sp>
      <p:graphicFrame>
        <p:nvGraphicFramePr>
          <p:cNvPr id="34" name="Chart"/>
          <p:cNvGraphicFramePr/>
          <p:nvPr/>
        </p:nvGraphicFramePr>
        <p:xfrm>
          <a:off xmlns:a="http://schemas.openxmlformats.org/drawingml/2006/main" x="3495675" y="3686175"/>
          <a:ext xmlns:a="http://schemas.openxmlformats.org/drawingml/2006/main" cx="2419350" cy="1438275"/>
        </p:xfrm>
        <a:graphic xmlns:a="http://schemas.openxmlformats.org/drawingml/2006/main">
          <a:graphicData uri="http://schemas.openxmlformats.org/drawingml/2006/chart">
            <c:chart xmlns:r="http://schemas.openxmlformats.org/officeDocument/2006/relationships" xmlns:c="http://schemas.openxmlformats.org/drawingml/2006/chart" r:id="R6748cb9b0f6e4d31"/>
          </a:graphicData>
        </a:graphic>
      </p:graphicFrame>
      <p:sp>
        <p:nvSpPr>
          <p:cNvPr id="12" name="">
            <a:extLst xmlns:a="http://schemas.openxmlformats.org/drawingml/2006/main">
              <a:ext uri="{FF2B5EF4-FFF2-40B4-BE49-F238E27FC236}">
                <a16:creationId xmlns:a16="http://schemas.microsoft.com/office/drawing/2014/main" id="{BD8CB192-0CF3-4E73-92CF-BE2663700727}"/>
              </a:ext>
            </a:extLst>
          </p:cNvPr>
          <p:cNvSpPr>
            <a:spLocks xmlns:a="http://schemas.openxmlformats.org/drawingml/2006/main" noGrp="1"/>
          </p:cNvSpPr>
          <p:nvPr/>
        </p:nvSpPr>
        <p:spPr>
          <a:xfrm xmlns:a="http://schemas.openxmlformats.org/drawingml/2006/main">
            <a:off x="6191250" y="2000250"/>
            <a:ext cx="2609850" cy="3248025"/>
          </a:xfrm>
          <a:prstGeom xmlns:a="http://schemas.openxmlformats.org/drawingml/2006/main" prst="roundRect">
            <a:avLst>
              <a:gd name="adj" fmla="val 2920"/>
            </a:avLst>
          </a:prstGeom>
          <a:solidFill xmlns:a="http://schemas.openxmlformats.org/drawingml/2006/main">
            <a:srgbClr val="141D2B"/>
          </a:solidFill>
          <a:ln xmlns:a="http://schemas.openxmlformats.org/drawingml/2006/main" w="9525">
            <a:solidFill>
              <a:srgbClr val="29384E"/>
            </a:solidFill>
          </a:ln>
        </p:spPr>
      </p:sp>
      <p:sp>
        <p:nvSpPr>
          <p:cNvPr id="13" name="">
            <a:extLst xmlns:a="http://schemas.openxmlformats.org/drawingml/2006/main">
              <a:ext uri="{FF2B5EF4-FFF2-40B4-BE49-F238E27FC236}">
                <a16:creationId xmlns:a16="http://schemas.microsoft.com/office/drawing/2014/main" id="{A3854AD7-6CD1-4855-B2E0-DE82931E954C}"/>
              </a:ext>
            </a:extLst>
          </p:cNvPr>
          <p:cNvSpPr>
            <a:spLocks xmlns:a="http://schemas.openxmlformats.org/drawingml/2006/main" noGrp="1"/>
          </p:cNvSpPr>
          <p:nvPr/>
        </p:nvSpPr>
        <p:spPr>
          <a:xfrm xmlns:a="http://schemas.openxmlformats.org/drawingml/2006/main">
            <a:off x="6362700" y="2247900"/>
            <a:ext cx="22574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F4F8FF"/>
                </a:solidFill>
                <a:latin typeface="Helvetica Neue"/>
                <a:ea typeface="Helvetica Neue"/>
                <a:cs typeface="Helvetica Neue"/>
              </a:defRPr>
            </a:pPr>
            <a:r>
              <a:rPr sz="2100" b="1">
                <a:solidFill>
                  <a:srgbClr val="F4F8FF"/>
                </a:solidFill>
                <a:latin typeface="Helvetica Neue"/>
                <a:ea typeface="Helvetica Neue"/>
                <a:cs typeface="Helvetica Neue"/>
              </a:rPr>
              <a:t>Bellroy</a:t>
            </a:r>
          </a:p>
        </p:txBody>
      </p:sp>
      <p:sp>
        <p:nvSpPr>
          <p:cNvPr id="14" name="">
            <a:extLst xmlns:a="http://schemas.openxmlformats.org/drawingml/2006/main">
              <a:ext uri="{FF2B5EF4-FFF2-40B4-BE49-F238E27FC236}">
                <a16:creationId xmlns:a16="http://schemas.microsoft.com/office/drawing/2014/main" id="{C4BB2D01-36E5-4151-8146-D6A40E136355}"/>
              </a:ext>
            </a:extLst>
          </p:cNvPr>
          <p:cNvSpPr>
            <a:spLocks xmlns:a="http://schemas.openxmlformats.org/drawingml/2006/main" noGrp="1"/>
          </p:cNvSpPr>
          <p:nvPr/>
        </p:nvSpPr>
        <p:spPr>
          <a:xfrm xmlns:a="http://schemas.openxmlformats.org/drawingml/2006/main">
            <a:off x="6362700" y="2800350"/>
            <a:ext cx="228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250" b="1">
                <a:solidFill>
                  <a:srgbClr val="F4F8FF"/>
                </a:solidFill>
                <a:latin typeface="Helvetica Neue"/>
                <a:ea typeface="Helvetica Neue"/>
                <a:cs typeface="Helvetica Neue"/>
              </a:defRPr>
            </a:pPr>
            <a:r>
              <a:rPr sz="5250" b="1">
                <a:solidFill>
                  <a:srgbClr val="F4F8FF"/>
                </a:solidFill>
                <a:latin typeface="Helvetica Neue"/>
                <a:ea typeface="Helvetica Neue"/>
                <a:cs typeface="Helvetica Neue"/>
              </a:rPr>
              <a:t>88</a:t>
            </a:r>
          </a:p>
        </p:txBody>
      </p:sp>
      <p:graphicFrame>
        <p:nvGraphicFramePr>
          <p:cNvPr id="38" name="Chart"/>
          <p:cNvGraphicFramePr/>
          <p:nvPr/>
        </p:nvGraphicFramePr>
        <p:xfrm>
          <a:off xmlns:a="http://schemas.openxmlformats.org/drawingml/2006/main" x="6286500" y="3686175"/>
          <a:ext xmlns:a="http://schemas.openxmlformats.org/drawingml/2006/main" cx="2419350" cy="1438275"/>
        </p:xfrm>
        <a:graphic xmlns:a="http://schemas.openxmlformats.org/drawingml/2006/main">
          <a:graphicData uri="http://schemas.openxmlformats.org/drawingml/2006/chart">
            <c:chart xmlns:r="http://schemas.openxmlformats.org/officeDocument/2006/relationships" xmlns:c="http://schemas.openxmlformats.org/drawingml/2006/chart" r:id="R9a9ffee140e343f0"/>
          </a:graphicData>
        </a:graphic>
      </p:graphicFrame>
      <p:sp>
        <p:nvSpPr>
          <p:cNvPr id="16" name="">
            <a:extLst xmlns:a="http://schemas.openxmlformats.org/drawingml/2006/main">
              <a:ext uri="{FF2B5EF4-FFF2-40B4-BE49-F238E27FC236}">
                <a16:creationId xmlns:a16="http://schemas.microsoft.com/office/drawing/2014/main" id="{38A25751-F07D-4021-90B6-6A140D875F9B}"/>
              </a:ext>
            </a:extLst>
          </p:cNvPr>
          <p:cNvSpPr>
            <a:spLocks xmlns:a="http://schemas.openxmlformats.org/drawingml/2006/main" noGrp="1"/>
          </p:cNvSpPr>
          <p:nvPr/>
        </p:nvSpPr>
        <p:spPr>
          <a:xfrm xmlns:a="http://schemas.openxmlformats.org/drawingml/2006/main">
            <a:off x="8982075" y="2000250"/>
            <a:ext cx="2609850" cy="3248025"/>
          </a:xfrm>
          <a:prstGeom xmlns:a="http://schemas.openxmlformats.org/drawingml/2006/main" prst="roundRect">
            <a:avLst>
              <a:gd name="adj" fmla="val 2920"/>
            </a:avLst>
          </a:prstGeom>
          <a:solidFill xmlns:a="http://schemas.openxmlformats.org/drawingml/2006/main">
            <a:srgbClr val="141D2B"/>
          </a:solidFill>
          <a:ln xmlns:a="http://schemas.openxmlformats.org/drawingml/2006/main" w="9525">
            <a:solidFill>
              <a:srgbClr val="29384E"/>
            </a:solidFill>
          </a:ln>
        </p:spPr>
      </p:sp>
      <p:sp>
        <p:nvSpPr>
          <p:cNvPr id="17" name="">
            <a:extLst xmlns:a="http://schemas.openxmlformats.org/drawingml/2006/main">
              <a:ext uri="{FF2B5EF4-FFF2-40B4-BE49-F238E27FC236}">
                <a16:creationId xmlns:a16="http://schemas.microsoft.com/office/drawing/2014/main" id="{E3D092E0-0513-41D5-BDFC-8F1396C11405}"/>
              </a:ext>
            </a:extLst>
          </p:cNvPr>
          <p:cNvSpPr>
            <a:spLocks xmlns:a="http://schemas.openxmlformats.org/drawingml/2006/main" noGrp="1"/>
          </p:cNvSpPr>
          <p:nvPr/>
        </p:nvSpPr>
        <p:spPr>
          <a:xfrm xmlns:a="http://schemas.openxmlformats.org/drawingml/2006/main">
            <a:off x="9153525" y="2247900"/>
            <a:ext cx="22574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F4F8FF"/>
                </a:solidFill>
                <a:latin typeface="Helvetica Neue"/>
                <a:ea typeface="Helvetica Neue"/>
                <a:cs typeface="Helvetica Neue"/>
              </a:defRPr>
            </a:pPr>
            <a:r>
              <a:rPr sz="2100" b="1">
                <a:solidFill>
                  <a:srgbClr val="F4F8FF"/>
                </a:solidFill>
                <a:latin typeface="Helvetica Neue"/>
                <a:ea typeface="Helvetica Neue"/>
                <a:cs typeface="Helvetica Neue"/>
              </a:rPr>
              <a:t>Patagonia</a:t>
            </a:r>
          </a:p>
        </p:txBody>
      </p:sp>
      <p:sp>
        <p:nvSpPr>
          <p:cNvPr id="18" name="">
            <a:extLst xmlns:a="http://schemas.openxmlformats.org/drawingml/2006/main">
              <a:ext uri="{FF2B5EF4-FFF2-40B4-BE49-F238E27FC236}">
                <a16:creationId xmlns:a16="http://schemas.microsoft.com/office/drawing/2014/main" id="{8375A0CD-D5A4-462D-AC30-3E3E968B242E}"/>
              </a:ext>
            </a:extLst>
          </p:cNvPr>
          <p:cNvSpPr>
            <a:spLocks xmlns:a="http://schemas.openxmlformats.org/drawingml/2006/main" noGrp="1"/>
          </p:cNvSpPr>
          <p:nvPr/>
        </p:nvSpPr>
        <p:spPr>
          <a:xfrm xmlns:a="http://schemas.openxmlformats.org/drawingml/2006/main">
            <a:off x="9153525" y="2800350"/>
            <a:ext cx="2286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250" b="1">
                <a:solidFill>
                  <a:srgbClr val="F4F8FF"/>
                </a:solidFill>
                <a:latin typeface="Helvetica Neue"/>
                <a:ea typeface="Helvetica Neue"/>
                <a:cs typeface="Helvetica Neue"/>
              </a:defRPr>
            </a:pPr>
            <a:r>
              <a:rPr sz="5250" b="1">
                <a:solidFill>
                  <a:srgbClr val="F4F8FF"/>
                </a:solidFill>
                <a:latin typeface="Helvetica Neue"/>
                <a:ea typeface="Helvetica Neue"/>
                <a:cs typeface="Helvetica Neue"/>
              </a:rPr>
              <a:t>84</a:t>
            </a:r>
          </a:p>
        </p:txBody>
      </p:sp>
      <p:graphicFrame>
        <p:nvGraphicFramePr>
          <p:cNvPr id="42" name="Chart"/>
          <p:cNvGraphicFramePr/>
          <p:nvPr/>
        </p:nvGraphicFramePr>
        <p:xfrm>
          <a:off xmlns:a="http://schemas.openxmlformats.org/drawingml/2006/main" x="9077325" y="3686175"/>
          <a:ext xmlns:a="http://schemas.openxmlformats.org/drawingml/2006/main" cx="2419350" cy="1438275"/>
        </p:xfrm>
        <a:graphic xmlns:a="http://schemas.openxmlformats.org/drawingml/2006/main">
          <a:graphicData uri="http://schemas.openxmlformats.org/drawingml/2006/chart">
            <c:chart xmlns:r="http://schemas.openxmlformats.org/officeDocument/2006/relationships" xmlns:c="http://schemas.openxmlformats.org/drawingml/2006/chart" r:id="R6fc65fea17b14f98"/>
          </a:graphicData>
        </a:graphic>
      </p:graphicFrame>
      <p:sp>
        <p:nvSpPr>
          <p:cNvPr id="20" name="">
            <a:extLst xmlns:a="http://schemas.openxmlformats.org/drawingml/2006/main">
              <a:ext uri="{FF2B5EF4-FFF2-40B4-BE49-F238E27FC236}">
                <a16:creationId xmlns:a16="http://schemas.microsoft.com/office/drawing/2014/main" id="{98087E79-3162-42D2-9E38-649969D584E1}"/>
              </a:ext>
            </a:extLst>
          </p:cNvPr>
          <p:cNvSpPr>
            <a:spLocks xmlns:a="http://schemas.openxmlformats.org/drawingml/2006/main" noGrp="1"/>
          </p:cNvSpPr>
          <p:nvPr/>
        </p:nvSpPr>
        <p:spPr>
          <a:xfrm xmlns:a="http://schemas.openxmlformats.org/drawingml/2006/main">
            <a:off x="609600" y="5562600"/>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5BE7FF"/>
                </a:solidFill>
                <a:latin typeface="Helvetica Neue"/>
                <a:ea typeface="Helvetica Neue"/>
                <a:cs typeface="Helvetica Neue"/>
              </a:defRPr>
            </a:pPr>
            <a:r>
              <a:rPr sz="1800" b="1">
                <a:solidFill>
                  <a:srgbClr val="5BE7FF"/>
                </a:solidFill>
                <a:latin typeface="Helvetica Neue"/>
                <a:ea typeface="Helvetica Neue"/>
                <a:cs typeface="Helvetica Neue"/>
              </a:rPr>
              <a:t>WHY #1</a:t>
            </a:r>
          </a:p>
        </p:txBody>
      </p:sp>
      <p:sp>
        <p:nvSpPr>
          <p:cNvPr id="21" name="">
            <a:extLst xmlns:a="http://schemas.openxmlformats.org/drawingml/2006/main">
              <a:ext uri="{FF2B5EF4-FFF2-40B4-BE49-F238E27FC236}">
                <a16:creationId xmlns:a16="http://schemas.microsoft.com/office/drawing/2014/main" id="{794840F7-33E5-45F4-8FDC-20C94D64F4C6}"/>
              </a:ext>
            </a:extLst>
          </p:cNvPr>
          <p:cNvSpPr>
            <a:spLocks xmlns:a="http://schemas.openxmlformats.org/drawingml/2006/main" noGrp="1"/>
          </p:cNvSpPr>
          <p:nvPr/>
        </p:nvSpPr>
        <p:spPr>
          <a:xfrm xmlns:a="http://schemas.openxmlformats.org/drawingml/2006/main">
            <a:off x="2428875" y="554355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4ADE80"/>
                </a:solidFill>
                <a:latin typeface="Helvetica Neue"/>
                <a:ea typeface="Helvetica Neue"/>
                <a:cs typeface="Helvetica Neue"/>
              </a:defRPr>
            </a:pPr>
            <a:r>
              <a:rPr sz="2100" b="0">
                <a:solidFill>
                  <a:srgbClr val="4ADE80"/>
                </a:solidFill>
                <a:latin typeface="Helvetica Neue"/>
                <a:ea typeface="Helvetica Neue"/>
                <a:cs typeface="Helvetica Neue"/>
              </a:rPr>
              <a:t>+ Durable   + Minimal design   + Organization</a:t>
            </a:r>
          </a:p>
        </p:txBody>
      </p:sp>
      <p:sp>
        <p:nvSpPr>
          <p:cNvPr id="22" name="">
            <a:extLst xmlns:a="http://schemas.openxmlformats.org/drawingml/2006/main">
              <a:ext uri="{FF2B5EF4-FFF2-40B4-BE49-F238E27FC236}">
                <a16:creationId xmlns:a16="http://schemas.microsoft.com/office/drawing/2014/main" id="{C1F45F1C-E33F-4746-9902-F7CB452995A8}"/>
              </a:ext>
            </a:extLst>
          </p:cNvPr>
          <p:cNvSpPr>
            <a:spLocks xmlns:a="http://schemas.openxmlformats.org/drawingml/2006/main" noGrp="1"/>
          </p:cNvSpPr>
          <p:nvPr/>
        </p:nvSpPr>
        <p:spPr>
          <a:xfrm xmlns:a="http://schemas.openxmlformats.org/drawingml/2006/main">
            <a:off x="2428875" y="59626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FF7387"/>
                </a:solidFill>
                <a:latin typeface="Helvetica Neue"/>
                <a:ea typeface="Helvetica Neue"/>
                <a:cs typeface="Helvetica Neue"/>
              </a:defRPr>
            </a:pPr>
            <a:r>
              <a:rPr sz="2025" b="0">
                <a:solidFill>
                  <a:srgbClr val="FF7387"/>
                </a:solidFill>
                <a:latin typeface="Helvetica Neue"/>
                <a:ea typeface="Helvetica Neue"/>
                <a:cs typeface="Helvetica Neue"/>
              </a:rPr>
              <a:t>− Slightly expensive</a:t>
            </a:r>
          </a:p>
        </p:txBody>
      </p:sp>
      <p:sp>
        <p:nvSpPr>
          <p:cNvPr id="23" name="">
            <a:extLst xmlns:a="http://schemas.openxmlformats.org/drawingml/2006/main">
              <a:ext uri="{FF2B5EF4-FFF2-40B4-BE49-F238E27FC236}">
                <a16:creationId xmlns:a16="http://schemas.microsoft.com/office/drawing/2014/main" id="{98A381AC-3A21-4C12-A0CE-B56F75925933}"/>
              </a:ext>
            </a:extLst>
          </p:cNvPr>
          <p:cNvSpPr>
            <a:spLocks xmlns:a="http://schemas.openxmlformats.org/drawingml/2006/main" noGrp="1"/>
          </p:cNvSpPr>
          <p:nvPr/>
        </p:nvSpPr>
        <p:spPr>
          <a:xfrm xmlns:a="http://schemas.openxmlformats.org/drawingml/2006/main">
            <a:off x="609600" y="6486525"/>
            <a:ext cx="1038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94A6BF"/>
                </a:solidFill>
                <a:latin typeface="Helvetica Neue"/>
                <a:ea typeface="Helvetica Neue"/>
                <a:cs typeface="Helvetica Neue"/>
              </a:defRPr>
            </a:pPr>
            <a:r>
              <a:rPr sz="1275" b="0">
                <a:solidFill>
                  <a:srgbClr val="94A6BF"/>
                </a:solidFill>
                <a:latin typeface="Helvetica Neue"/>
                <a:ea typeface="Helvetica Neue"/>
                <a:cs typeface="Helvetica Neue"/>
              </a:rPr>
              <a:t>Illustrative brands, scores and attributes. Not live recommendations.</a:t>
            </a:r>
          </a:p>
        </p:txBody>
      </p:sp>
    </p:spTree>
    <p:extLst>
      <p:ext uri="{BB962C8B-B14F-4D97-AF65-F5344CB8AC3E}">
        <p14:creationId xmlns:p14="http://schemas.microsoft.com/office/powerpoint/2010/main" val="1682323441"/>
      </p:ext>
    </p:extLst>
  </p:cSld>
</p:sld>
</file>

<file path=ppt/slides/slide7.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C2AC2DD-C8DC-4EEB-A335-38D11D1CFBD7}"/>
              </a:ext>
            </a:extLst>
          </p:cNvPr>
          <p:cNvSpPr>
            <a:spLocks xmlns:a="http://schemas.openxmlformats.org/drawingml/2006/main" noGrp="1"/>
          </p:cNvSpPr>
          <p:nvPr/>
        </p:nvSpPr>
        <p:spPr>
          <a:xfrm xmlns:a="http://schemas.openxmlformats.org/drawingml/2006/main">
            <a:off x="609600" y="266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5BE7FF"/>
                </a:solidFill>
                <a:latin typeface="Helvetica Neue"/>
                <a:ea typeface="Helvetica Neue"/>
                <a:cs typeface="Helvetica Neue"/>
              </a:defRPr>
            </a:pPr>
            <a:r>
              <a:rPr sz="1350" b="1">
                <a:solidFill>
                  <a:srgbClr val="5BE7FF"/>
                </a:solidFill>
                <a:latin typeface="Helvetica Neue"/>
                <a:ea typeface="Helvetica Neue"/>
                <a:cs typeface="Helvetica Neue"/>
              </a:rPr>
              <a:t>FINDWISE</a:t>
            </a:r>
          </a:p>
        </p:txBody>
      </p:sp>
      <p:sp>
        <p:nvSpPr>
          <p:cNvPr id="2" name="">
            <a:extLst xmlns:a="http://schemas.openxmlformats.org/drawingml/2006/main">
              <a:ext uri="{FF2B5EF4-FFF2-40B4-BE49-F238E27FC236}">
                <a16:creationId xmlns:a16="http://schemas.microsoft.com/office/drawing/2014/main" id="{3133737E-8275-4865-A8A5-854AC4103110}"/>
              </a:ext>
            </a:extLst>
          </p:cNvPr>
          <p:cNvSpPr>
            <a:spLocks xmlns:a="http://schemas.openxmlformats.org/drawingml/2006/main" noGrp="1"/>
          </p:cNvSpPr>
          <p:nvPr/>
        </p:nvSpPr>
        <p:spPr>
          <a:xfrm xmlns:a="http://schemas.openxmlformats.org/drawingml/2006/main">
            <a:off x="10668000" y="2667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94A6BF"/>
                </a:solidFill>
                <a:latin typeface="Helvetica Neue"/>
                <a:ea typeface="Helvetica Neue"/>
                <a:cs typeface="Helvetica Neue"/>
              </a:defRPr>
            </a:pPr>
            <a:r>
              <a:rPr sz="1350" b="0">
                <a:solidFill>
                  <a:srgbClr val="94A6BF"/>
                </a:solidFill>
                <a:latin typeface="Helvetica Neue"/>
                <a:ea typeface="Helvetica Neue"/>
                <a:cs typeface="Helvetica Neue"/>
              </a:rPr>
              <a:t>07 / 10</a:t>
            </a:r>
          </a:p>
        </p:txBody>
      </p:sp>
      <p:sp>
        <p:nvSpPr>
          <p:cNvPr id="3" name="">
            <a:extLst xmlns:a="http://schemas.openxmlformats.org/drawingml/2006/main">
              <a:ext uri="{FF2B5EF4-FFF2-40B4-BE49-F238E27FC236}">
                <a16:creationId xmlns:a16="http://schemas.microsoft.com/office/drawing/2014/main" id="{32CAF376-8BAE-4628-B693-4560DEF51EEE}"/>
              </a:ext>
            </a:extLst>
          </p:cNvPr>
          <p:cNvSpPr>
            <a:spLocks xmlns:a="http://schemas.openxmlformats.org/drawingml/2006/main" noGrp="1"/>
          </p:cNvSpPr>
          <p:nvPr/>
        </p:nvSpPr>
        <p:spPr>
          <a:xfrm xmlns:a="http://schemas.openxmlformats.org/drawingml/2006/main">
            <a:off x="609600" y="876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b="1">
                <a:solidFill>
                  <a:srgbClr val="F4F8FF"/>
                </a:solidFill>
                <a:latin typeface="Helvetica Neue"/>
                <a:ea typeface="Helvetica Neue"/>
                <a:cs typeface="Helvetica Neue"/>
              </a:defRPr>
            </a:pPr>
            <a:r>
              <a:rPr sz="4050" b="1">
                <a:solidFill>
                  <a:srgbClr val="F4F8FF"/>
                </a:solidFill>
                <a:latin typeface="Helvetica Neue"/>
                <a:ea typeface="Helvetica Neue"/>
                <a:cs typeface="Helvetica Neue"/>
              </a:rPr>
              <a:t>Now find me a hotel</a:t>
            </a:r>
          </a:p>
        </p:txBody>
      </p:sp>
      <p:sp>
        <p:nvSpPr>
          <p:cNvPr id="4" name="">
            <a:extLst xmlns:a="http://schemas.openxmlformats.org/drawingml/2006/main">
              <a:ext uri="{FF2B5EF4-FFF2-40B4-BE49-F238E27FC236}">
                <a16:creationId xmlns:a16="http://schemas.microsoft.com/office/drawing/2014/main" id="{FEE9437E-D806-4951-8DBE-7474CA7B55D9}"/>
              </a:ext>
            </a:extLst>
          </p:cNvPr>
          <p:cNvSpPr>
            <a:spLocks xmlns:a="http://schemas.openxmlformats.org/drawingml/2006/main" noGrp="1"/>
          </p:cNvSpPr>
          <p:nvPr/>
        </p:nvSpPr>
        <p:spPr>
          <a:xfrm xmlns:a="http://schemas.openxmlformats.org/drawingml/2006/main">
            <a:off x="609600" y="2019300"/>
            <a:ext cx="10972800" cy="800100"/>
          </a:xfrm>
          <a:prstGeom xmlns:a="http://schemas.openxmlformats.org/drawingml/2006/main" prst="roundRect">
            <a:avLst>
              <a:gd name="adj" fmla="val 9524"/>
            </a:avLst>
          </a:prstGeom>
          <a:solidFill xmlns:a="http://schemas.openxmlformats.org/drawingml/2006/main">
            <a:srgbClr val="141D2B"/>
          </a:solidFill>
          <a:ln xmlns:a="http://schemas.openxmlformats.org/drawingml/2006/main" w="9525">
            <a:solidFill>
              <a:srgbClr val="29384E"/>
            </a:solidFill>
          </a:ln>
        </p:spPr>
      </p:sp>
      <p:sp>
        <p:nvSpPr>
          <p:cNvPr id="5" name="">
            <a:extLst xmlns:a="http://schemas.openxmlformats.org/drawingml/2006/main">
              <a:ext uri="{FF2B5EF4-FFF2-40B4-BE49-F238E27FC236}">
                <a16:creationId xmlns:a16="http://schemas.microsoft.com/office/drawing/2014/main" id="{1C5931EA-75E2-477D-B7B4-548C30CBCFBA}"/>
              </a:ext>
            </a:extLst>
          </p:cNvPr>
          <p:cNvSpPr>
            <a:spLocks xmlns:a="http://schemas.openxmlformats.org/drawingml/2006/main" noGrp="1"/>
          </p:cNvSpPr>
          <p:nvPr/>
        </p:nvSpPr>
        <p:spPr>
          <a:xfrm xmlns:a="http://schemas.openxmlformats.org/drawingml/2006/main">
            <a:off x="857250" y="221932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925" b="1">
                <a:solidFill>
                  <a:srgbClr val="5BE7FF"/>
                </a:solidFill>
                <a:latin typeface="Helvetica Neue"/>
                <a:ea typeface="Helvetica Neue"/>
                <a:cs typeface="Helvetica Neue"/>
              </a:defRPr>
            </a:pPr>
            <a:r>
              <a:rPr sz="2925" b="1">
                <a:solidFill>
                  <a:srgbClr val="5BE7FF"/>
                </a:solidFill>
                <a:latin typeface="Helvetica Neue"/>
                <a:ea typeface="Helvetica Neue"/>
                <a:cs typeface="Helvetica Neue"/>
              </a:rPr>
              <a:t>Find me a hotel.</a:t>
            </a:r>
          </a:p>
        </p:txBody>
      </p:sp>
      <p:sp>
        <p:nvSpPr>
          <p:cNvPr id="6" name="">
            <a:extLst xmlns:a="http://schemas.openxmlformats.org/drawingml/2006/main">
              <a:ext uri="{FF2B5EF4-FFF2-40B4-BE49-F238E27FC236}">
                <a16:creationId xmlns:a16="http://schemas.microsoft.com/office/drawing/2014/main" id="{56FBA002-911F-42C7-987F-65E8378C5B68}"/>
              </a:ext>
            </a:extLst>
          </p:cNvPr>
          <p:cNvSpPr>
            <a:spLocks xmlns:a="http://schemas.openxmlformats.org/drawingml/2006/main" noGrp="1"/>
          </p:cNvSpPr>
          <p:nvPr/>
        </p:nvSpPr>
        <p:spPr>
          <a:xfrm xmlns:a="http://schemas.openxmlformats.org/drawingml/2006/main">
            <a:off x="609600" y="32956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8B5CF6"/>
                </a:solidFill>
                <a:latin typeface="Helvetica Neue"/>
                <a:ea typeface="Helvetica Neue"/>
                <a:cs typeface="Helvetica Neue"/>
              </a:defRPr>
            </a:pPr>
            <a:r>
              <a:rPr sz="2025" b="1">
                <a:solidFill>
                  <a:srgbClr val="8B5CF6"/>
                </a:solidFill>
                <a:latin typeface="Helvetica Neue"/>
                <a:ea typeface="Helvetica Neue"/>
                <a:cs typeface="Helvetica Neue"/>
              </a:rPr>
              <a:t>RECOVERED MEMORY</a:t>
            </a:r>
          </a:p>
        </p:txBody>
      </p:sp>
      <p:sp>
        <p:nvSpPr>
          <p:cNvPr id="7" name="">
            <a:extLst xmlns:a="http://schemas.openxmlformats.org/drawingml/2006/main">
              <a:ext uri="{FF2B5EF4-FFF2-40B4-BE49-F238E27FC236}">
                <a16:creationId xmlns:a16="http://schemas.microsoft.com/office/drawing/2014/main" id="{74F9F62A-9873-42F4-9E8A-25CA065069E1}"/>
              </a:ext>
            </a:extLst>
          </p:cNvPr>
          <p:cNvSpPr>
            <a:spLocks xmlns:a="http://schemas.openxmlformats.org/drawingml/2006/main" noGrp="1"/>
          </p:cNvSpPr>
          <p:nvPr/>
        </p:nvSpPr>
        <p:spPr>
          <a:xfrm xmlns:a="http://schemas.openxmlformats.org/drawingml/2006/main">
            <a:off x="609600" y="3924300"/>
            <a:ext cx="3524250" cy="695325"/>
          </a:xfrm>
          <a:prstGeom xmlns:a="http://schemas.openxmlformats.org/drawingml/2006/main" prst="roundRect">
            <a:avLst>
              <a:gd name="adj" fmla="val 10959"/>
            </a:avLst>
          </a:prstGeom>
          <a:solidFill xmlns:a="http://schemas.openxmlformats.org/drawingml/2006/main">
            <a:srgbClr val="123440"/>
          </a:solidFill>
          <a:ln xmlns:a="http://schemas.openxmlformats.org/drawingml/2006/main" w="9525">
            <a:solidFill>
              <a:srgbClr val="5BE7FF"/>
            </a:solidFill>
          </a:ln>
        </p:spPr>
      </p:sp>
      <p:sp>
        <p:nvSpPr>
          <p:cNvPr id="8" name="">
            <a:extLst xmlns:a="http://schemas.openxmlformats.org/drawingml/2006/main">
              <a:ext uri="{FF2B5EF4-FFF2-40B4-BE49-F238E27FC236}">
                <a16:creationId xmlns:a16="http://schemas.microsoft.com/office/drawing/2014/main" id="{F4787A59-24CE-4BA3-8F0E-3FC6DB3CF66B}"/>
              </a:ext>
            </a:extLst>
          </p:cNvPr>
          <p:cNvSpPr>
            <a:spLocks xmlns:a="http://schemas.openxmlformats.org/drawingml/2006/main" noGrp="1"/>
          </p:cNvSpPr>
          <p:nvPr/>
        </p:nvSpPr>
        <p:spPr>
          <a:xfrm xmlns:a="http://schemas.openxmlformats.org/drawingml/2006/main">
            <a:off x="800100" y="4114800"/>
            <a:ext cx="3171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5BE7FF"/>
                </a:solidFill>
                <a:latin typeface="Helvetica Neue"/>
                <a:ea typeface="Helvetica Neue"/>
                <a:cs typeface="Helvetica Neue"/>
              </a:defRPr>
            </a:pPr>
            <a:r>
              <a:rPr sz="2025" b="1">
                <a:solidFill>
                  <a:srgbClr val="5BE7FF"/>
                </a:solidFill>
                <a:latin typeface="Helvetica Neue"/>
                <a:ea typeface="Helvetica Neue"/>
                <a:cs typeface="Helvetica Neue"/>
              </a:rPr>
              <a:t>✓  Quiet surroundings</a:t>
            </a:r>
          </a:p>
        </p:txBody>
      </p:sp>
      <p:sp>
        <p:nvSpPr>
          <p:cNvPr id="9" name="">
            <a:extLst xmlns:a="http://schemas.openxmlformats.org/drawingml/2006/main">
              <a:ext uri="{FF2B5EF4-FFF2-40B4-BE49-F238E27FC236}">
                <a16:creationId xmlns:a16="http://schemas.microsoft.com/office/drawing/2014/main" id="{EB3C9A6B-CF05-49F3-9E0B-60E1322CD2CE}"/>
              </a:ext>
            </a:extLst>
          </p:cNvPr>
          <p:cNvSpPr>
            <a:spLocks xmlns:a="http://schemas.openxmlformats.org/drawingml/2006/main" noGrp="1"/>
          </p:cNvSpPr>
          <p:nvPr/>
        </p:nvSpPr>
        <p:spPr>
          <a:xfrm xmlns:a="http://schemas.openxmlformats.org/drawingml/2006/main">
            <a:off x="4324350" y="3924300"/>
            <a:ext cx="3524250" cy="695325"/>
          </a:xfrm>
          <a:prstGeom xmlns:a="http://schemas.openxmlformats.org/drawingml/2006/main" prst="roundRect">
            <a:avLst>
              <a:gd name="adj" fmla="val 10959"/>
            </a:avLst>
          </a:prstGeom>
          <a:solidFill xmlns:a="http://schemas.openxmlformats.org/drawingml/2006/main">
            <a:srgbClr val="123440"/>
          </a:solidFill>
          <a:ln xmlns:a="http://schemas.openxmlformats.org/drawingml/2006/main" w="9525">
            <a:solidFill>
              <a:srgbClr val="5BE7FF"/>
            </a:solidFill>
          </a:ln>
        </p:spPr>
      </p:sp>
      <p:sp>
        <p:nvSpPr>
          <p:cNvPr id="10" name="">
            <a:extLst xmlns:a="http://schemas.openxmlformats.org/drawingml/2006/main">
              <a:ext uri="{FF2B5EF4-FFF2-40B4-BE49-F238E27FC236}">
                <a16:creationId xmlns:a16="http://schemas.microsoft.com/office/drawing/2014/main" id="{BF94021D-248F-4EF4-840D-0EB0A3A1EB72}"/>
              </a:ext>
            </a:extLst>
          </p:cNvPr>
          <p:cNvSpPr>
            <a:spLocks xmlns:a="http://schemas.openxmlformats.org/drawingml/2006/main" noGrp="1"/>
          </p:cNvSpPr>
          <p:nvPr/>
        </p:nvSpPr>
        <p:spPr>
          <a:xfrm xmlns:a="http://schemas.openxmlformats.org/drawingml/2006/main">
            <a:off x="4514850" y="4114800"/>
            <a:ext cx="3171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5BE7FF"/>
                </a:solidFill>
                <a:latin typeface="Helvetica Neue"/>
                <a:ea typeface="Helvetica Neue"/>
                <a:cs typeface="Helvetica Neue"/>
              </a:defRPr>
            </a:pPr>
            <a:r>
              <a:rPr sz="2025" b="1">
                <a:solidFill>
                  <a:srgbClr val="5BE7FF"/>
                </a:solidFill>
                <a:latin typeface="Helvetica Neue"/>
                <a:ea typeface="Helvetica Neue"/>
                <a:cs typeface="Helvetica Neue"/>
              </a:rPr>
              <a:t>✓  Clean design</a:t>
            </a:r>
          </a:p>
        </p:txBody>
      </p:sp>
      <p:sp>
        <p:nvSpPr>
          <p:cNvPr id="11" name="">
            <a:extLst xmlns:a="http://schemas.openxmlformats.org/drawingml/2006/main">
              <a:ext uri="{FF2B5EF4-FFF2-40B4-BE49-F238E27FC236}">
                <a16:creationId xmlns:a16="http://schemas.microsoft.com/office/drawing/2014/main" id="{F91A88DA-9586-4305-B2D0-C10AB872C946}"/>
              </a:ext>
            </a:extLst>
          </p:cNvPr>
          <p:cNvSpPr>
            <a:spLocks xmlns:a="http://schemas.openxmlformats.org/drawingml/2006/main" noGrp="1"/>
          </p:cNvSpPr>
          <p:nvPr/>
        </p:nvSpPr>
        <p:spPr>
          <a:xfrm xmlns:a="http://schemas.openxmlformats.org/drawingml/2006/main">
            <a:off x="8039100" y="3924300"/>
            <a:ext cx="3524250" cy="695325"/>
          </a:xfrm>
          <a:prstGeom xmlns:a="http://schemas.openxmlformats.org/drawingml/2006/main" prst="roundRect">
            <a:avLst>
              <a:gd name="adj" fmla="val 10959"/>
            </a:avLst>
          </a:prstGeom>
          <a:solidFill xmlns:a="http://schemas.openxmlformats.org/drawingml/2006/main">
            <a:srgbClr val="123440"/>
          </a:solidFill>
          <a:ln xmlns:a="http://schemas.openxmlformats.org/drawingml/2006/main" w="9525">
            <a:solidFill>
              <a:srgbClr val="5BE7FF"/>
            </a:solidFill>
          </a:ln>
        </p:spPr>
      </p:sp>
      <p:sp>
        <p:nvSpPr>
          <p:cNvPr id="12" name="">
            <a:extLst xmlns:a="http://schemas.openxmlformats.org/drawingml/2006/main">
              <a:ext uri="{FF2B5EF4-FFF2-40B4-BE49-F238E27FC236}">
                <a16:creationId xmlns:a16="http://schemas.microsoft.com/office/drawing/2014/main" id="{D655D739-7D2B-412D-A959-8C68B3A0F747}"/>
              </a:ext>
            </a:extLst>
          </p:cNvPr>
          <p:cNvSpPr>
            <a:spLocks xmlns:a="http://schemas.openxmlformats.org/drawingml/2006/main" noGrp="1"/>
          </p:cNvSpPr>
          <p:nvPr/>
        </p:nvSpPr>
        <p:spPr>
          <a:xfrm xmlns:a="http://schemas.openxmlformats.org/drawingml/2006/main">
            <a:off x="8229600" y="4114800"/>
            <a:ext cx="3171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5BE7FF"/>
                </a:solidFill>
                <a:latin typeface="Helvetica Neue"/>
                <a:ea typeface="Helvetica Neue"/>
                <a:cs typeface="Helvetica Neue"/>
              </a:defRPr>
            </a:pPr>
            <a:r>
              <a:rPr sz="2025" b="1">
                <a:solidFill>
                  <a:srgbClr val="5BE7FF"/>
                </a:solidFill>
                <a:latin typeface="Helvetica Neue"/>
                <a:ea typeface="Helvetica Neue"/>
                <a:cs typeface="Helvetica Neue"/>
              </a:rPr>
              <a:t>✓  High quality</a:t>
            </a:r>
          </a:p>
        </p:txBody>
      </p:sp>
      <p:sp>
        <p:nvSpPr>
          <p:cNvPr id="13" name="">
            <a:extLst xmlns:a="http://schemas.openxmlformats.org/drawingml/2006/main">
              <a:ext uri="{FF2B5EF4-FFF2-40B4-BE49-F238E27FC236}">
                <a16:creationId xmlns:a16="http://schemas.microsoft.com/office/drawing/2014/main" id="{218984BC-8BB6-4C4E-B179-45258434FBFF}"/>
              </a:ext>
            </a:extLst>
          </p:cNvPr>
          <p:cNvSpPr>
            <a:spLocks xmlns:a="http://schemas.openxmlformats.org/drawingml/2006/main" noGrp="1"/>
          </p:cNvSpPr>
          <p:nvPr/>
        </p:nvSpPr>
        <p:spPr>
          <a:xfrm xmlns:a="http://schemas.openxmlformats.org/drawingml/2006/main">
            <a:off x="609600" y="4810125"/>
            <a:ext cx="3524250" cy="695325"/>
          </a:xfrm>
          <a:prstGeom xmlns:a="http://schemas.openxmlformats.org/drawingml/2006/main" prst="roundRect">
            <a:avLst>
              <a:gd name="adj" fmla="val 10959"/>
            </a:avLst>
          </a:prstGeom>
          <a:solidFill xmlns:a="http://schemas.openxmlformats.org/drawingml/2006/main">
            <a:srgbClr val="123440"/>
          </a:solidFill>
          <a:ln xmlns:a="http://schemas.openxmlformats.org/drawingml/2006/main" w="9525">
            <a:solidFill>
              <a:srgbClr val="5BE7FF"/>
            </a:solidFill>
          </a:ln>
        </p:spPr>
      </p:sp>
      <p:sp>
        <p:nvSpPr>
          <p:cNvPr id="14" name="">
            <a:extLst xmlns:a="http://schemas.openxmlformats.org/drawingml/2006/main">
              <a:ext uri="{FF2B5EF4-FFF2-40B4-BE49-F238E27FC236}">
                <a16:creationId xmlns:a16="http://schemas.microsoft.com/office/drawing/2014/main" id="{FC0792C4-21A5-4660-95BF-7BDEE6260907}"/>
              </a:ext>
            </a:extLst>
          </p:cNvPr>
          <p:cNvSpPr>
            <a:spLocks xmlns:a="http://schemas.openxmlformats.org/drawingml/2006/main" noGrp="1"/>
          </p:cNvSpPr>
          <p:nvPr/>
        </p:nvSpPr>
        <p:spPr>
          <a:xfrm xmlns:a="http://schemas.openxmlformats.org/drawingml/2006/main">
            <a:off x="800100" y="5000625"/>
            <a:ext cx="3171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5BE7FF"/>
                </a:solidFill>
                <a:latin typeface="Helvetica Neue"/>
                <a:ea typeface="Helvetica Neue"/>
                <a:cs typeface="Helvetica Neue"/>
              </a:defRPr>
            </a:pPr>
            <a:r>
              <a:rPr sz="2025" b="1">
                <a:solidFill>
                  <a:srgbClr val="5BE7FF"/>
                </a:solidFill>
                <a:latin typeface="Helvetica Neue"/>
                <a:ea typeface="Helvetica Neue"/>
                <a:cs typeface="Helvetica Neue"/>
              </a:rPr>
              <a:t>✓  Walkable</a:t>
            </a:r>
          </a:p>
        </p:txBody>
      </p:sp>
      <p:sp>
        <p:nvSpPr>
          <p:cNvPr id="15" name="">
            <a:extLst xmlns:a="http://schemas.openxmlformats.org/drawingml/2006/main">
              <a:ext uri="{FF2B5EF4-FFF2-40B4-BE49-F238E27FC236}">
                <a16:creationId xmlns:a16="http://schemas.microsoft.com/office/drawing/2014/main" id="{4D732D24-A1D0-4FA6-AB53-F8661188A5E0}"/>
              </a:ext>
            </a:extLst>
          </p:cNvPr>
          <p:cNvSpPr>
            <a:spLocks xmlns:a="http://schemas.openxmlformats.org/drawingml/2006/main" noGrp="1"/>
          </p:cNvSpPr>
          <p:nvPr/>
        </p:nvSpPr>
        <p:spPr>
          <a:xfrm xmlns:a="http://schemas.openxmlformats.org/drawingml/2006/main">
            <a:off x="4324350" y="4810125"/>
            <a:ext cx="3524250" cy="695325"/>
          </a:xfrm>
          <a:prstGeom xmlns:a="http://schemas.openxmlformats.org/drawingml/2006/main" prst="roundRect">
            <a:avLst>
              <a:gd name="adj" fmla="val 10959"/>
            </a:avLst>
          </a:prstGeom>
          <a:solidFill xmlns:a="http://schemas.openxmlformats.org/drawingml/2006/main">
            <a:srgbClr val="123440"/>
          </a:solidFill>
          <a:ln xmlns:a="http://schemas.openxmlformats.org/drawingml/2006/main" w="9525">
            <a:solidFill>
              <a:srgbClr val="5BE7FF"/>
            </a:solidFill>
          </a:ln>
        </p:spPr>
      </p:sp>
      <p:sp>
        <p:nvSpPr>
          <p:cNvPr id="16" name="">
            <a:extLst xmlns:a="http://schemas.openxmlformats.org/drawingml/2006/main">
              <a:ext uri="{FF2B5EF4-FFF2-40B4-BE49-F238E27FC236}">
                <a16:creationId xmlns:a16="http://schemas.microsoft.com/office/drawing/2014/main" id="{F48C75A0-B7BE-4C84-B384-BEDDF95FB8F7}"/>
              </a:ext>
            </a:extLst>
          </p:cNvPr>
          <p:cNvSpPr>
            <a:spLocks xmlns:a="http://schemas.openxmlformats.org/drawingml/2006/main" noGrp="1"/>
          </p:cNvSpPr>
          <p:nvPr/>
        </p:nvSpPr>
        <p:spPr>
          <a:xfrm xmlns:a="http://schemas.openxmlformats.org/drawingml/2006/main">
            <a:off x="4514850" y="5000625"/>
            <a:ext cx="3171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5BE7FF"/>
                </a:solidFill>
                <a:latin typeface="Helvetica Neue"/>
                <a:ea typeface="Helvetica Neue"/>
                <a:cs typeface="Helvetica Neue"/>
              </a:defRPr>
            </a:pPr>
            <a:r>
              <a:rPr sz="2025" b="1">
                <a:solidFill>
                  <a:srgbClr val="5BE7FF"/>
                </a:solidFill>
                <a:latin typeface="Helvetica Neue"/>
                <a:ea typeface="Helvetica Neue"/>
                <a:cs typeface="Helvetica Neue"/>
              </a:rPr>
              <a:t>✓  Excellent service</a:t>
            </a:r>
          </a:p>
        </p:txBody>
      </p:sp>
      <p:sp>
        <p:nvSpPr>
          <p:cNvPr id="17" name="">
            <a:extLst xmlns:a="http://schemas.openxmlformats.org/drawingml/2006/main">
              <a:ext uri="{FF2B5EF4-FFF2-40B4-BE49-F238E27FC236}">
                <a16:creationId xmlns:a16="http://schemas.microsoft.com/office/drawing/2014/main" id="{93FE7A11-5B37-467C-B63E-488CAD4D357D}"/>
              </a:ext>
            </a:extLst>
          </p:cNvPr>
          <p:cNvSpPr>
            <a:spLocks xmlns:a="http://schemas.openxmlformats.org/drawingml/2006/main" noGrp="1"/>
          </p:cNvSpPr>
          <p:nvPr/>
        </p:nvSpPr>
        <p:spPr>
          <a:xfrm xmlns:a="http://schemas.openxmlformats.org/drawingml/2006/main">
            <a:off x="609600" y="597217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4F8FF"/>
                </a:solidFill>
                <a:latin typeface="Helvetica Neue"/>
                <a:ea typeface="Helvetica Neue"/>
                <a:cs typeface="Helvetica Neue"/>
              </a:defRPr>
            </a:pPr>
            <a:r>
              <a:rPr sz="3300" b="1">
                <a:solidFill>
                  <a:srgbClr val="F4F8FF"/>
                </a:solidFill>
                <a:latin typeface="Helvetica Neue"/>
                <a:ea typeface="Helvetica Neue"/>
                <a:cs typeface="Helvetica Neue"/>
              </a:rPr>
              <a:t>Same person. New decision.</a:t>
            </a:r>
          </a:p>
        </p:txBody>
      </p:sp>
    </p:spTree>
    <p:extLst>
      <p:ext uri="{BB962C8B-B14F-4D97-AF65-F5344CB8AC3E}">
        <p14:creationId xmlns:p14="http://schemas.microsoft.com/office/powerpoint/2010/main" val="1468195581"/>
      </p:ext>
    </p:extLst>
  </p:cSld>
</p:sld>
</file>

<file path=ppt/slides/slide8.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57FD026-544C-4469-8C56-9AB5ACBA361D}"/>
              </a:ext>
            </a:extLst>
          </p:cNvPr>
          <p:cNvSpPr>
            <a:spLocks xmlns:a="http://schemas.openxmlformats.org/drawingml/2006/main" noGrp="1"/>
          </p:cNvSpPr>
          <p:nvPr/>
        </p:nvSpPr>
        <p:spPr>
          <a:xfrm xmlns:a="http://schemas.openxmlformats.org/drawingml/2006/main">
            <a:off x="609600" y="266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5BE7FF"/>
                </a:solidFill>
                <a:latin typeface="Helvetica Neue"/>
                <a:ea typeface="Helvetica Neue"/>
                <a:cs typeface="Helvetica Neue"/>
              </a:defRPr>
            </a:pPr>
            <a:r>
              <a:rPr sz="1350" b="1">
                <a:solidFill>
                  <a:srgbClr val="5BE7FF"/>
                </a:solidFill>
                <a:latin typeface="Helvetica Neue"/>
                <a:ea typeface="Helvetica Neue"/>
                <a:cs typeface="Helvetica Neue"/>
              </a:rPr>
              <a:t>FINDWISE</a:t>
            </a:r>
          </a:p>
        </p:txBody>
      </p:sp>
      <p:sp>
        <p:nvSpPr>
          <p:cNvPr id="2" name="">
            <a:extLst xmlns:a="http://schemas.openxmlformats.org/drawingml/2006/main">
              <a:ext uri="{FF2B5EF4-FFF2-40B4-BE49-F238E27FC236}">
                <a16:creationId xmlns:a16="http://schemas.microsoft.com/office/drawing/2014/main" id="{99C20D87-78E5-414B-B546-C68B36E780A1}"/>
              </a:ext>
            </a:extLst>
          </p:cNvPr>
          <p:cNvSpPr>
            <a:spLocks xmlns:a="http://schemas.openxmlformats.org/drawingml/2006/main" noGrp="1"/>
          </p:cNvSpPr>
          <p:nvPr/>
        </p:nvSpPr>
        <p:spPr>
          <a:xfrm xmlns:a="http://schemas.openxmlformats.org/drawingml/2006/main">
            <a:off x="10668000" y="2667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94A6BF"/>
                </a:solidFill>
                <a:latin typeface="Helvetica Neue"/>
                <a:ea typeface="Helvetica Neue"/>
                <a:cs typeface="Helvetica Neue"/>
              </a:defRPr>
            </a:pPr>
            <a:r>
              <a:rPr sz="1350" b="0">
                <a:solidFill>
                  <a:srgbClr val="94A6BF"/>
                </a:solidFill>
                <a:latin typeface="Helvetica Neue"/>
                <a:ea typeface="Helvetica Neue"/>
                <a:cs typeface="Helvetica Neue"/>
              </a:rPr>
              <a:t>08 / 10</a:t>
            </a:r>
          </a:p>
        </p:txBody>
      </p:sp>
      <p:sp>
        <p:nvSpPr>
          <p:cNvPr id="3" name="">
            <a:extLst xmlns:a="http://schemas.openxmlformats.org/drawingml/2006/main">
              <a:ext uri="{FF2B5EF4-FFF2-40B4-BE49-F238E27FC236}">
                <a16:creationId xmlns:a16="http://schemas.microsoft.com/office/drawing/2014/main" id="{7628CF18-56F9-400F-8DD8-23D72ED6E95A}"/>
              </a:ext>
            </a:extLst>
          </p:cNvPr>
          <p:cNvSpPr>
            <a:spLocks xmlns:a="http://schemas.openxmlformats.org/drawingml/2006/main" noGrp="1"/>
          </p:cNvSpPr>
          <p:nvPr/>
        </p:nvSpPr>
        <p:spPr>
          <a:xfrm xmlns:a="http://schemas.openxmlformats.org/drawingml/2006/main">
            <a:off x="609600" y="876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b="1">
                <a:solidFill>
                  <a:srgbClr val="F4F8FF"/>
                </a:solidFill>
                <a:latin typeface="Helvetica Neue"/>
                <a:ea typeface="Helvetica Neue"/>
                <a:cs typeface="Helvetica Neue"/>
              </a:defRPr>
            </a:pPr>
            <a:r>
              <a:rPr sz="4050" b="1">
                <a:solidFill>
                  <a:srgbClr val="F4F8FF"/>
                </a:solidFill>
                <a:latin typeface="Helvetica Neue"/>
                <a:ea typeface="Helvetica Neue"/>
                <a:cs typeface="Helvetica Neue"/>
              </a:rPr>
              <a:t>Tradeoff Explorer</a:t>
            </a:r>
          </a:p>
        </p:txBody>
      </p:sp>
      <p:sp>
        <p:nvSpPr>
          <p:cNvPr id="4" name="">
            <a:extLst xmlns:a="http://schemas.openxmlformats.org/drawingml/2006/main">
              <a:ext uri="{FF2B5EF4-FFF2-40B4-BE49-F238E27FC236}">
                <a16:creationId xmlns:a16="http://schemas.microsoft.com/office/drawing/2014/main" id="{B34C2AF4-AC26-4D54-8BFC-27B3B7EDAEB4}"/>
              </a:ext>
            </a:extLst>
          </p:cNvPr>
          <p:cNvSpPr>
            <a:spLocks xmlns:a="http://schemas.openxmlformats.org/drawingml/2006/main" noGrp="1"/>
          </p:cNvSpPr>
          <p:nvPr/>
        </p:nvSpPr>
        <p:spPr>
          <a:xfrm xmlns:a="http://schemas.openxmlformats.org/drawingml/2006/main">
            <a:off x="609600" y="21526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5BE7FF"/>
                </a:solidFill>
                <a:latin typeface="Helvetica Neue"/>
                <a:ea typeface="Helvetica Neue"/>
                <a:cs typeface="Helvetica Neue"/>
              </a:defRPr>
            </a:pPr>
            <a:r>
              <a:rPr sz="2550" b="1">
                <a:solidFill>
                  <a:srgbClr val="5BE7FF"/>
                </a:solidFill>
                <a:latin typeface="Helvetica Neue"/>
                <a:ea typeface="Helvetica Neue"/>
                <a:cs typeface="Helvetica Neue"/>
              </a:rPr>
              <a:t>Quality</a:t>
            </a:r>
          </a:p>
        </p:txBody>
      </p:sp>
      <p:sp>
        <p:nvSpPr>
          <p:cNvPr id="5" name="">
            <a:extLst xmlns:a="http://schemas.openxmlformats.org/drawingml/2006/main">
              <a:ext uri="{FF2B5EF4-FFF2-40B4-BE49-F238E27FC236}">
                <a16:creationId xmlns:a16="http://schemas.microsoft.com/office/drawing/2014/main" id="{F29A9280-F5F5-4FD0-932E-3D6AA3275B64}"/>
              </a:ext>
            </a:extLst>
          </p:cNvPr>
          <p:cNvSpPr>
            <a:spLocks xmlns:a="http://schemas.openxmlformats.org/drawingml/2006/main" noGrp="1"/>
          </p:cNvSpPr>
          <p:nvPr/>
        </p:nvSpPr>
        <p:spPr>
          <a:xfrm xmlns:a="http://schemas.openxmlformats.org/drawingml/2006/main">
            <a:off x="10477500" y="2152650"/>
            <a:ext cx="114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8B5CF6"/>
                </a:solidFill>
                <a:latin typeface="Helvetica Neue"/>
                <a:ea typeface="Helvetica Neue"/>
                <a:cs typeface="Helvetica Neue"/>
              </a:defRPr>
            </a:pPr>
            <a:r>
              <a:rPr sz="2550" b="1">
                <a:solidFill>
                  <a:srgbClr val="8B5CF6"/>
                </a:solidFill>
                <a:latin typeface="Helvetica Neue"/>
                <a:ea typeface="Helvetica Neue"/>
                <a:cs typeface="Helvetica Neue"/>
              </a:rPr>
              <a:t>Price</a:t>
            </a:r>
          </a:p>
        </p:txBody>
      </p:sp>
      <p:sp>
        <p:nvSpPr>
          <p:cNvPr id="6" name="">
            <a:extLst xmlns:a="http://schemas.openxmlformats.org/drawingml/2006/main">
              <a:ext uri="{FF2B5EF4-FFF2-40B4-BE49-F238E27FC236}">
                <a16:creationId xmlns:a16="http://schemas.microsoft.com/office/drawing/2014/main" id="{53EA55FB-9B2F-4A83-A86B-2A2AFE225DA7}"/>
              </a:ext>
            </a:extLst>
          </p:cNvPr>
          <p:cNvSpPr>
            <a:spLocks xmlns:a="http://schemas.openxmlformats.org/drawingml/2006/main" noGrp="1"/>
          </p:cNvSpPr>
          <p:nvPr/>
        </p:nvSpPr>
        <p:spPr>
          <a:xfrm xmlns:a="http://schemas.openxmlformats.org/drawingml/2006/main">
            <a:off x="609600" y="2895600"/>
            <a:ext cx="10972800" cy="133350"/>
          </a:xfrm>
          <a:prstGeom xmlns:a="http://schemas.openxmlformats.org/drawingml/2006/main" prst="roundRect">
            <a:avLst>
              <a:gd name="adj" fmla="val 50000"/>
            </a:avLst>
          </a:prstGeom>
          <a:solidFill xmlns:a="http://schemas.openxmlformats.org/drawingml/2006/main">
            <a:srgbClr val="29384E"/>
          </a:solidFill>
          <a:ln xmlns:a="http://schemas.openxmlformats.org/drawingml/2006/main" w="9525">
            <a:solidFill>
              <a:srgbClr val="29384E"/>
            </a:solidFill>
          </a:ln>
        </p:spPr>
      </p:sp>
      <p:sp>
        <p:nvSpPr>
          <p:cNvPr id="7" name="">
            <a:extLst xmlns:a="http://schemas.openxmlformats.org/drawingml/2006/main">
              <a:ext uri="{FF2B5EF4-FFF2-40B4-BE49-F238E27FC236}">
                <a16:creationId xmlns:a16="http://schemas.microsoft.com/office/drawing/2014/main" id="{AF2FDA6D-98A1-4B7C-9DB9-604F92968BCF}"/>
              </a:ext>
            </a:extLst>
          </p:cNvPr>
          <p:cNvSpPr>
            <a:spLocks xmlns:a="http://schemas.openxmlformats.org/drawingml/2006/main" noGrp="1"/>
          </p:cNvSpPr>
          <p:nvPr/>
        </p:nvSpPr>
        <p:spPr>
          <a:xfrm xmlns:a="http://schemas.openxmlformats.org/drawingml/2006/main">
            <a:off x="5448300" y="2733675"/>
            <a:ext cx="457200" cy="457200"/>
          </a:xfrm>
          <a:prstGeom xmlns:a="http://schemas.openxmlformats.org/drawingml/2006/main" prst="roundRect">
            <a:avLst>
              <a:gd name="adj" fmla="val 16667"/>
            </a:avLst>
          </a:prstGeom>
          <a:solidFill xmlns:a="http://schemas.openxmlformats.org/drawingml/2006/main">
            <a:srgbClr val="5BE7FF"/>
          </a:solidFill>
          <a:ln xmlns:a="http://schemas.openxmlformats.org/drawingml/2006/main" w="9525">
            <a:solidFill>
              <a:srgbClr val="5BE7FF"/>
            </a:solidFill>
          </a:ln>
        </p:spPr>
      </p:sp>
      <p:sp>
        <p:nvSpPr>
          <p:cNvPr id="8" name="">
            <a:extLst xmlns:a="http://schemas.openxmlformats.org/drawingml/2006/main">
              <a:ext uri="{FF2B5EF4-FFF2-40B4-BE49-F238E27FC236}">
                <a16:creationId xmlns:a16="http://schemas.microsoft.com/office/drawing/2014/main" id="{E2061029-CF66-49B9-A88E-D12712879FD6}"/>
              </a:ext>
            </a:extLst>
          </p:cNvPr>
          <p:cNvSpPr>
            <a:spLocks xmlns:a="http://schemas.openxmlformats.org/drawingml/2006/main" noGrp="1"/>
          </p:cNvSpPr>
          <p:nvPr/>
        </p:nvSpPr>
        <p:spPr>
          <a:xfrm xmlns:a="http://schemas.openxmlformats.org/drawingml/2006/main">
            <a:off x="609600" y="3676650"/>
            <a:ext cx="5353050" cy="2038350"/>
          </a:xfrm>
          <a:prstGeom xmlns:a="http://schemas.openxmlformats.org/drawingml/2006/main" prst="roundRect">
            <a:avLst>
              <a:gd name="adj" fmla="val 3738"/>
            </a:avLst>
          </a:prstGeom>
          <a:solidFill xmlns:a="http://schemas.openxmlformats.org/drawingml/2006/main">
            <a:srgbClr val="141D2B"/>
          </a:solidFill>
          <a:ln xmlns:a="http://schemas.openxmlformats.org/drawingml/2006/main" w="9525">
            <a:solidFill>
              <a:srgbClr val="29384E"/>
            </a:solidFill>
          </a:ln>
        </p:spPr>
      </p:sp>
      <p:sp>
        <p:nvSpPr>
          <p:cNvPr id="9" name="">
            <a:extLst xmlns:a="http://schemas.openxmlformats.org/drawingml/2006/main">
              <a:ext uri="{FF2B5EF4-FFF2-40B4-BE49-F238E27FC236}">
                <a16:creationId xmlns:a16="http://schemas.microsoft.com/office/drawing/2014/main" id="{703B1673-F06E-4858-AF14-8D513750967B}"/>
              </a:ext>
            </a:extLst>
          </p:cNvPr>
          <p:cNvSpPr>
            <a:spLocks xmlns:a="http://schemas.openxmlformats.org/drawingml/2006/main" noGrp="1"/>
          </p:cNvSpPr>
          <p:nvPr/>
        </p:nvSpPr>
        <p:spPr>
          <a:xfrm xmlns:a="http://schemas.openxmlformats.org/drawingml/2006/main">
            <a:off x="876300" y="3943350"/>
            <a:ext cx="4838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5BE7FF"/>
                </a:solidFill>
                <a:latin typeface="Helvetica Neue"/>
                <a:ea typeface="Helvetica Neue"/>
                <a:cs typeface="Helvetica Neue"/>
              </a:defRPr>
            </a:pPr>
            <a:r>
              <a:rPr sz="1800" b="1">
                <a:solidFill>
                  <a:srgbClr val="5BE7FF"/>
                </a:solidFill>
                <a:latin typeface="Helvetica Neue"/>
                <a:ea typeface="Helvetica Neue"/>
                <a:cs typeface="Helvetica Neue"/>
              </a:rPr>
              <a:t>QUALITY FIRST</a:t>
            </a:r>
          </a:p>
        </p:txBody>
      </p:sp>
      <p:sp>
        <p:nvSpPr>
          <p:cNvPr id="10" name="">
            <a:extLst xmlns:a="http://schemas.openxmlformats.org/drawingml/2006/main">
              <a:ext uri="{FF2B5EF4-FFF2-40B4-BE49-F238E27FC236}">
                <a16:creationId xmlns:a16="http://schemas.microsoft.com/office/drawing/2014/main" id="{EDBE7746-49E5-4EF7-87FE-FFE7873A25BE}"/>
              </a:ext>
            </a:extLst>
          </p:cNvPr>
          <p:cNvSpPr>
            <a:spLocks xmlns:a="http://schemas.openxmlformats.org/drawingml/2006/main" noGrp="1"/>
          </p:cNvSpPr>
          <p:nvPr/>
        </p:nvSpPr>
        <p:spPr>
          <a:xfrm xmlns:a="http://schemas.openxmlformats.org/drawingml/2006/main">
            <a:off x="876300" y="4514850"/>
            <a:ext cx="48387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F4F8FF"/>
                </a:solidFill>
                <a:latin typeface="Helvetica Neue"/>
                <a:ea typeface="Helvetica Neue"/>
                <a:cs typeface="Helvetica Neue"/>
              </a:defRPr>
            </a:pPr>
            <a:r>
              <a:rPr sz="2775" b="1">
                <a:solidFill>
                  <a:srgbClr val="F4F8FF"/>
                </a:solidFill>
                <a:latin typeface="Helvetica Neue"/>
                <a:ea typeface="Helvetica Neue"/>
                <a:cs typeface="Helvetica Neue"/>
              </a:rPr>
              <a:t>Aer     94</a:t>
            </a:r>
          </a:p>
          <a:p xmlns:a="http://schemas.openxmlformats.org/drawingml/2006/main">
            <a:pPr>
              <a:defRPr sz="2775" b="1">
                <a:solidFill>
                  <a:srgbClr val="F4F8FF"/>
                </a:solidFill>
                <a:latin typeface="Helvetica Neue"/>
                <a:ea typeface="Helvetica Neue"/>
                <a:cs typeface="Helvetica Neue"/>
              </a:defRPr>
            </a:pPr>
            <a:r>
              <a:rPr sz="2775" b="1">
                <a:solidFill>
                  <a:srgbClr val="F4F8FF"/>
                </a:solidFill>
                <a:latin typeface="Helvetica Neue"/>
                <a:ea typeface="Helvetica Neue"/>
                <a:cs typeface="Helvetica Neue"/>
              </a:rPr>
              <a:t>Bellroy     88</a:t>
            </a:r>
          </a:p>
        </p:txBody>
      </p:sp>
      <p:sp>
        <p:nvSpPr>
          <p:cNvPr id="11" name="">
            <a:extLst xmlns:a="http://schemas.openxmlformats.org/drawingml/2006/main">
              <a:ext uri="{FF2B5EF4-FFF2-40B4-BE49-F238E27FC236}">
                <a16:creationId xmlns:a16="http://schemas.microsoft.com/office/drawing/2014/main" id="{18D49F0E-E95E-4AC7-86D5-4BADBA1162AD}"/>
              </a:ext>
            </a:extLst>
          </p:cNvPr>
          <p:cNvSpPr>
            <a:spLocks xmlns:a="http://schemas.openxmlformats.org/drawingml/2006/main" noGrp="1"/>
          </p:cNvSpPr>
          <p:nvPr/>
        </p:nvSpPr>
        <p:spPr>
          <a:xfrm xmlns:a="http://schemas.openxmlformats.org/drawingml/2006/main">
            <a:off x="6229350" y="3676650"/>
            <a:ext cx="5353050" cy="2038350"/>
          </a:xfrm>
          <a:prstGeom xmlns:a="http://schemas.openxmlformats.org/drawingml/2006/main" prst="roundRect">
            <a:avLst>
              <a:gd name="adj" fmla="val 3738"/>
            </a:avLst>
          </a:prstGeom>
          <a:solidFill xmlns:a="http://schemas.openxmlformats.org/drawingml/2006/main">
            <a:srgbClr val="141D2B"/>
          </a:solidFill>
          <a:ln xmlns:a="http://schemas.openxmlformats.org/drawingml/2006/main" w="9525">
            <a:solidFill>
              <a:srgbClr val="29384E"/>
            </a:solidFill>
          </a:ln>
        </p:spPr>
      </p:sp>
      <p:sp>
        <p:nvSpPr>
          <p:cNvPr id="12" name="">
            <a:extLst xmlns:a="http://schemas.openxmlformats.org/drawingml/2006/main">
              <a:ext uri="{FF2B5EF4-FFF2-40B4-BE49-F238E27FC236}">
                <a16:creationId xmlns:a16="http://schemas.microsoft.com/office/drawing/2014/main" id="{6DA84272-635A-4476-8EA0-6B93FA1C9E6B}"/>
              </a:ext>
            </a:extLst>
          </p:cNvPr>
          <p:cNvSpPr>
            <a:spLocks xmlns:a="http://schemas.openxmlformats.org/drawingml/2006/main" noGrp="1"/>
          </p:cNvSpPr>
          <p:nvPr/>
        </p:nvSpPr>
        <p:spPr>
          <a:xfrm xmlns:a="http://schemas.openxmlformats.org/drawingml/2006/main">
            <a:off x="6496050" y="3943350"/>
            <a:ext cx="4838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8B5CF6"/>
                </a:solidFill>
                <a:latin typeface="Helvetica Neue"/>
                <a:ea typeface="Helvetica Neue"/>
                <a:cs typeface="Helvetica Neue"/>
              </a:defRPr>
            </a:pPr>
            <a:r>
              <a:rPr sz="1800" b="1">
                <a:solidFill>
                  <a:srgbClr val="8B5CF6"/>
                </a:solidFill>
                <a:latin typeface="Helvetica Neue"/>
                <a:ea typeface="Helvetica Neue"/>
                <a:cs typeface="Helvetica Neue"/>
              </a:rPr>
              <a:t>PRICE FIRST</a:t>
            </a:r>
          </a:p>
        </p:txBody>
      </p:sp>
      <p:sp>
        <p:nvSpPr>
          <p:cNvPr id="13" name="">
            <a:extLst xmlns:a="http://schemas.openxmlformats.org/drawingml/2006/main">
              <a:ext uri="{FF2B5EF4-FFF2-40B4-BE49-F238E27FC236}">
                <a16:creationId xmlns:a16="http://schemas.microsoft.com/office/drawing/2014/main" id="{DBA46933-C602-44F8-A85F-177654A7893B}"/>
              </a:ext>
            </a:extLst>
          </p:cNvPr>
          <p:cNvSpPr>
            <a:spLocks xmlns:a="http://schemas.openxmlformats.org/drawingml/2006/main" noGrp="1"/>
          </p:cNvSpPr>
          <p:nvPr/>
        </p:nvSpPr>
        <p:spPr>
          <a:xfrm xmlns:a="http://schemas.openxmlformats.org/drawingml/2006/main">
            <a:off x="6496050" y="4514850"/>
            <a:ext cx="48387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F4F8FF"/>
                </a:solidFill>
                <a:latin typeface="Helvetica Neue"/>
                <a:ea typeface="Helvetica Neue"/>
                <a:cs typeface="Helvetica Neue"/>
              </a:defRPr>
            </a:pPr>
            <a:r>
              <a:rPr sz="2775" b="1">
                <a:solidFill>
                  <a:srgbClr val="F4F8FF"/>
                </a:solidFill>
                <a:latin typeface="Helvetica Neue"/>
                <a:ea typeface="Helvetica Neue"/>
                <a:cs typeface="Helvetica Neue"/>
              </a:rPr>
              <a:t>Patagonia     92</a:t>
            </a:r>
          </a:p>
          <a:p xmlns:a="http://schemas.openxmlformats.org/drawingml/2006/main">
            <a:pPr>
              <a:defRPr sz="2775" b="1">
                <a:solidFill>
                  <a:srgbClr val="F4F8FF"/>
                </a:solidFill>
                <a:latin typeface="Helvetica Neue"/>
                <a:ea typeface="Helvetica Neue"/>
                <a:cs typeface="Helvetica Neue"/>
              </a:defRPr>
            </a:pPr>
            <a:r>
              <a:rPr sz="2775" b="1">
                <a:solidFill>
                  <a:srgbClr val="F4F8FF"/>
                </a:solidFill>
                <a:latin typeface="Helvetica Neue"/>
                <a:ea typeface="Helvetica Neue"/>
                <a:cs typeface="Helvetica Neue"/>
              </a:rPr>
              <a:t>Bellroy     89</a:t>
            </a:r>
          </a:p>
        </p:txBody>
      </p:sp>
      <p:sp>
        <p:nvSpPr>
          <p:cNvPr id="14" name="">
            <a:extLst xmlns:a="http://schemas.openxmlformats.org/drawingml/2006/main">
              <a:ext uri="{FF2B5EF4-FFF2-40B4-BE49-F238E27FC236}">
                <a16:creationId xmlns:a16="http://schemas.microsoft.com/office/drawing/2014/main" id="{CFA3930A-B5D4-41D1-BF95-BF4FBD3660BC}"/>
              </a:ext>
            </a:extLst>
          </p:cNvPr>
          <p:cNvSpPr>
            <a:spLocks xmlns:a="http://schemas.openxmlformats.org/drawingml/2006/main" noGrp="1"/>
          </p:cNvSpPr>
          <p:nvPr/>
        </p:nvSpPr>
        <p:spPr>
          <a:xfrm xmlns:a="http://schemas.openxmlformats.org/drawingml/2006/main">
            <a:off x="609600" y="60864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94A6BF"/>
                </a:solidFill>
                <a:latin typeface="Helvetica Neue"/>
                <a:ea typeface="Helvetica Neue"/>
                <a:cs typeface="Helvetica Neue"/>
              </a:defRPr>
            </a:pPr>
            <a:r>
              <a:rPr sz="2175" b="0">
                <a:solidFill>
                  <a:srgbClr val="94A6BF"/>
                </a:solidFill>
                <a:latin typeface="Helvetica Neue"/>
                <a:ea typeface="Helvetica Neue"/>
                <a:cs typeface="Helvetica Neue"/>
              </a:rPr>
              <a:t>Move a priority. Watch the leaderboard change instantly.</a:t>
            </a:r>
          </a:p>
        </p:txBody>
      </p:sp>
    </p:spTree>
    <p:extLst>
      <p:ext uri="{BB962C8B-B14F-4D97-AF65-F5344CB8AC3E}">
        <p14:creationId xmlns:p14="http://schemas.microsoft.com/office/powerpoint/2010/main" val="582527010"/>
      </p:ext>
    </p:extLst>
  </p:cSld>
</p:sld>
</file>

<file path=ppt/slides/slide9.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35204DB-9975-452A-B42B-7AF741875E7A}"/>
              </a:ext>
            </a:extLst>
          </p:cNvPr>
          <p:cNvSpPr>
            <a:spLocks xmlns:a="http://schemas.openxmlformats.org/drawingml/2006/main" noGrp="1"/>
          </p:cNvSpPr>
          <p:nvPr/>
        </p:nvSpPr>
        <p:spPr>
          <a:xfrm xmlns:a="http://schemas.openxmlformats.org/drawingml/2006/main">
            <a:off x="609600" y="266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5BE7FF"/>
                </a:solidFill>
                <a:latin typeface="Helvetica Neue"/>
                <a:ea typeface="Helvetica Neue"/>
                <a:cs typeface="Helvetica Neue"/>
              </a:defRPr>
            </a:pPr>
            <a:r>
              <a:rPr sz="1350" b="1">
                <a:solidFill>
                  <a:srgbClr val="5BE7FF"/>
                </a:solidFill>
                <a:latin typeface="Helvetica Neue"/>
                <a:ea typeface="Helvetica Neue"/>
                <a:cs typeface="Helvetica Neue"/>
              </a:rPr>
              <a:t>FINDWISE</a:t>
            </a:r>
          </a:p>
        </p:txBody>
      </p:sp>
      <p:sp>
        <p:nvSpPr>
          <p:cNvPr id="2" name="">
            <a:extLst xmlns:a="http://schemas.openxmlformats.org/drawingml/2006/main">
              <a:ext uri="{FF2B5EF4-FFF2-40B4-BE49-F238E27FC236}">
                <a16:creationId xmlns:a16="http://schemas.microsoft.com/office/drawing/2014/main" id="{1B9B7297-C239-4D09-BEFB-DB1722B1389F}"/>
              </a:ext>
            </a:extLst>
          </p:cNvPr>
          <p:cNvSpPr>
            <a:spLocks xmlns:a="http://schemas.openxmlformats.org/drawingml/2006/main" noGrp="1"/>
          </p:cNvSpPr>
          <p:nvPr/>
        </p:nvSpPr>
        <p:spPr>
          <a:xfrm xmlns:a="http://schemas.openxmlformats.org/drawingml/2006/main">
            <a:off x="10668000" y="2667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94A6BF"/>
                </a:solidFill>
                <a:latin typeface="Helvetica Neue"/>
                <a:ea typeface="Helvetica Neue"/>
                <a:cs typeface="Helvetica Neue"/>
              </a:defRPr>
            </a:pPr>
            <a:r>
              <a:rPr sz="1350" b="0">
                <a:solidFill>
                  <a:srgbClr val="94A6BF"/>
                </a:solidFill>
                <a:latin typeface="Helvetica Neue"/>
                <a:ea typeface="Helvetica Neue"/>
                <a:cs typeface="Helvetica Neue"/>
              </a:rPr>
              <a:t>09 / 10</a:t>
            </a:r>
          </a:p>
        </p:txBody>
      </p:sp>
      <p:sp>
        <p:nvSpPr>
          <p:cNvPr id="3" name="">
            <a:extLst xmlns:a="http://schemas.openxmlformats.org/drawingml/2006/main">
              <a:ext uri="{FF2B5EF4-FFF2-40B4-BE49-F238E27FC236}">
                <a16:creationId xmlns:a16="http://schemas.microsoft.com/office/drawing/2014/main" id="{3570ED9D-C5C3-443C-AEF9-EF8679E9D1C2}"/>
              </a:ext>
            </a:extLst>
          </p:cNvPr>
          <p:cNvSpPr>
            <a:spLocks xmlns:a="http://schemas.openxmlformats.org/drawingml/2006/main" noGrp="1"/>
          </p:cNvSpPr>
          <p:nvPr/>
        </p:nvSpPr>
        <p:spPr>
          <a:xfrm xmlns:a="http://schemas.openxmlformats.org/drawingml/2006/main">
            <a:off x="609600" y="8763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b="1">
                <a:solidFill>
                  <a:srgbClr val="F4F8FF"/>
                </a:solidFill>
                <a:latin typeface="Helvetica Neue"/>
                <a:ea typeface="Helvetica Neue"/>
                <a:cs typeface="Helvetica Neue"/>
              </a:defRPr>
            </a:pPr>
            <a:r>
              <a:rPr sz="4050" b="1">
                <a:solidFill>
                  <a:srgbClr val="F4F8FF"/>
                </a:solidFill>
                <a:latin typeface="Helvetica Neue"/>
                <a:ea typeface="Helvetica Neue"/>
                <a:cs typeface="Helvetica Neue"/>
              </a:rPr>
              <a:t>Four sponsors. One decision.</a:t>
            </a:r>
          </a:p>
        </p:txBody>
      </p:sp>
      <p:sp>
        <p:nvSpPr>
          <p:cNvPr id="4" name="">
            <a:extLst xmlns:a="http://schemas.openxmlformats.org/drawingml/2006/main">
              <a:ext uri="{FF2B5EF4-FFF2-40B4-BE49-F238E27FC236}">
                <a16:creationId xmlns:a16="http://schemas.microsoft.com/office/drawing/2014/main" id="{E8AA74DE-A771-4240-B9C1-B58BD9482B02}"/>
              </a:ext>
            </a:extLst>
          </p:cNvPr>
          <p:cNvSpPr>
            <a:spLocks xmlns:a="http://schemas.openxmlformats.org/drawingml/2006/main" noGrp="1"/>
          </p:cNvSpPr>
          <p:nvPr/>
        </p:nvSpPr>
        <p:spPr>
          <a:xfrm xmlns:a="http://schemas.openxmlformats.org/drawingml/2006/main">
            <a:off x="609600" y="2276475"/>
            <a:ext cx="2609850" cy="2619375"/>
          </a:xfrm>
          <a:prstGeom xmlns:a="http://schemas.openxmlformats.org/drawingml/2006/main" prst="roundRect">
            <a:avLst>
              <a:gd name="adj" fmla="val 2920"/>
            </a:avLst>
          </a:prstGeom>
          <a:solidFill xmlns:a="http://schemas.openxmlformats.org/drawingml/2006/main">
            <a:srgbClr val="141D2B"/>
          </a:solidFill>
          <a:ln xmlns:a="http://schemas.openxmlformats.org/drawingml/2006/main" w="9525">
            <a:solidFill>
              <a:srgbClr val="29384E"/>
            </a:solidFill>
          </a:ln>
        </p:spPr>
      </p:sp>
      <p:sp>
        <p:nvSpPr>
          <p:cNvPr id="5" name="">
            <a:extLst xmlns:a="http://schemas.openxmlformats.org/drawingml/2006/main">
              <a:ext uri="{FF2B5EF4-FFF2-40B4-BE49-F238E27FC236}">
                <a16:creationId xmlns:a16="http://schemas.microsoft.com/office/drawing/2014/main" id="{C56EF18A-8371-4514-AB44-A7D844B977F7}"/>
              </a:ext>
            </a:extLst>
          </p:cNvPr>
          <p:cNvSpPr>
            <a:spLocks xmlns:a="http://schemas.openxmlformats.org/drawingml/2006/main" noGrp="1"/>
          </p:cNvSpPr>
          <p:nvPr/>
        </p:nvSpPr>
        <p:spPr>
          <a:xfrm xmlns:a="http://schemas.openxmlformats.org/drawingml/2006/main">
            <a:off x="800100" y="255270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8B5CF6"/>
                </a:solidFill>
                <a:latin typeface="Helvetica Neue"/>
                <a:ea typeface="Helvetica Neue"/>
                <a:cs typeface="Helvetica Neue"/>
              </a:defRPr>
            </a:pPr>
            <a:r>
              <a:rPr sz="1500" b="1">
                <a:solidFill>
                  <a:srgbClr val="8B5CF6"/>
                </a:solidFill>
                <a:latin typeface="Helvetica Neue"/>
                <a:ea typeface="Helvetica Neue"/>
                <a:cs typeface="Helvetica Neue"/>
              </a:rPr>
              <a:t>MEMORY</a:t>
            </a:r>
          </a:p>
        </p:txBody>
      </p:sp>
      <p:sp>
        <p:nvSpPr>
          <p:cNvPr id="6" name="">
            <a:extLst xmlns:a="http://schemas.openxmlformats.org/drawingml/2006/main">
              <a:ext uri="{FF2B5EF4-FFF2-40B4-BE49-F238E27FC236}">
                <a16:creationId xmlns:a16="http://schemas.microsoft.com/office/drawing/2014/main" id="{8867AD87-F6EA-466B-9E02-9DAFEA3FAE31}"/>
              </a:ext>
            </a:extLst>
          </p:cNvPr>
          <p:cNvSpPr>
            <a:spLocks xmlns:a="http://schemas.openxmlformats.org/drawingml/2006/main" noGrp="1"/>
          </p:cNvSpPr>
          <p:nvPr/>
        </p:nvSpPr>
        <p:spPr>
          <a:xfrm xmlns:a="http://schemas.openxmlformats.org/drawingml/2006/main">
            <a:off x="800100" y="3105150"/>
            <a:ext cx="2266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850" b="1">
                <a:solidFill>
                  <a:srgbClr val="F4F8FF"/>
                </a:solidFill>
                <a:latin typeface="Helvetica Neue"/>
                <a:ea typeface="Helvetica Neue"/>
                <a:cs typeface="Helvetica Neue"/>
              </a:defRPr>
            </a:pPr>
            <a:r>
              <a:rPr sz="2850" b="1">
                <a:solidFill>
                  <a:srgbClr val="F4F8FF"/>
                </a:solidFill>
                <a:latin typeface="Helvetica Neue"/>
                <a:ea typeface="Helvetica Neue"/>
                <a:cs typeface="Helvetica Neue"/>
              </a:rPr>
              <a:t>Moss</a:t>
            </a:r>
          </a:p>
        </p:txBody>
      </p:sp>
      <p:sp>
        <p:nvSpPr>
          <p:cNvPr id="7" name="">
            <a:extLst xmlns:a="http://schemas.openxmlformats.org/drawingml/2006/main">
              <a:ext uri="{FF2B5EF4-FFF2-40B4-BE49-F238E27FC236}">
                <a16:creationId xmlns:a16="http://schemas.microsoft.com/office/drawing/2014/main" id="{B69298AA-FA30-41E6-9CBE-51EB1638A723}"/>
              </a:ext>
            </a:extLst>
          </p:cNvPr>
          <p:cNvSpPr>
            <a:spLocks xmlns:a="http://schemas.openxmlformats.org/drawingml/2006/main" noGrp="1"/>
          </p:cNvSpPr>
          <p:nvPr/>
        </p:nvSpPr>
        <p:spPr>
          <a:xfrm xmlns:a="http://schemas.openxmlformats.org/drawingml/2006/main">
            <a:off x="800100" y="4010025"/>
            <a:ext cx="2257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Recalls personal context</a:t>
            </a:r>
          </a:p>
        </p:txBody>
      </p:sp>
      <p:sp>
        <p:nvSpPr>
          <p:cNvPr id="8" name="">
            <a:extLst xmlns:a="http://schemas.openxmlformats.org/drawingml/2006/main">
              <a:ext uri="{FF2B5EF4-FFF2-40B4-BE49-F238E27FC236}">
                <a16:creationId xmlns:a16="http://schemas.microsoft.com/office/drawing/2014/main" id="{A38E4AED-AD13-4DC9-A8F1-E5B17B09FE93}"/>
              </a:ext>
            </a:extLst>
          </p:cNvPr>
          <p:cNvSpPr>
            <a:spLocks xmlns:a="http://schemas.openxmlformats.org/drawingml/2006/main" noGrp="1"/>
          </p:cNvSpPr>
          <p:nvPr/>
        </p:nvSpPr>
        <p:spPr>
          <a:xfrm xmlns:a="http://schemas.openxmlformats.org/drawingml/2006/main">
            <a:off x="3400425" y="2276475"/>
            <a:ext cx="2609850" cy="2619375"/>
          </a:xfrm>
          <a:prstGeom xmlns:a="http://schemas.openxmlformats.org/drawingml/2006/main" prst="roundRect">
            <a:avLst>
              <a:gd name="adj" fmla="val 2920"/>
            </a:avLst>
          </a:prstGeom>
          <a:solidFill xmlns:a="http://schemas.openxmlformats.org/drawingml/2006/main">
            <a:srgbClr val="141D2B"/>
          </a:solidFill>
          <a:ln xmlns:a="http://schemas.openxmlformats.org/drawingml/2006/main" w="9525">
            <a:solidFill>
              <a:srgbClr val="29384E"/>
            </a:solidFill>
          </a:ln>
        </p:spPr>
      </p:sp>
      <p:sp>
        <p:nvSpPr>
          <p:cNvPr id="9" name="">
            <a:extLst xmlns:a="http://schemas.openxmlformats.org/drawingml/2006/main">
              <a:ext uri="{FF2B5EF4-FFF2-40B4-BE49-F238E27FC236}">
                <a16:creationId xmlns:a16="http://schemas.microsoft.com/office/drawing/2014/main" id="{B7FC7E3D-B84E-4543-AB62-F1B97A9EFD5A}"/>
              </a:ext>
            </a:extLst>
          </p:cNvPr>
          <p:cNvSpPr>
            <a:spLocks xmlns:a="http://schemas.openxmlformats.org/drawingml/2006/main" noGrp="1"/>
          </p:cNvSpPr>
          <p:nvPr/>
        </p:nvSpPr>
        <p:spPr>
          <a:xfrm xmlns:a="http://schemas.openxmlformats.org/drawingml/2006/main">
            <a:off x="3590925" y="255270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5BE7FF"/>
                </a:solidFill>
                <a:latin typeface="Helvetica Neue"/>
                <a:ea typeface="Helvetica Neue"/>
                <a:cs typeface="Helvetica Neue"/>
              </a:defRPr>
            </a:pPr>
            <a:r>
              <a:rPr sz="1500" b="1">
                <a:solidFill>
                  <a:srgbClr val="5BE7FF"/>
                </a:solidFill>
                <a:latin typeface="Helvetica Neue"/>
                <a:ea typeface="Helvetica Neue"/>
                <a:cs typeface="Helvetica Neue"/>
              </a:rPr>
              <a:t>WORKFLOW</a:t>
            </a:r>
          </a:p>
        </p:txBody>
      </p:sp>
      <p:sp>
        <p:nvSpPr>
          <p:cNvPr id="10" name="">
            <a:extLst xmlns:a="http://schemas.openxmlformats.org/drawingml/2006/main">
              <a:ext uri="{FF2B5EF4-FFF2-40B4-BE49-F238E27FC236}">
                <a16:creationId xmlns:a16="http://schemas.microsoft.com/office/drawing/2014/main" id="{809D31F2-218E-466A-9A44-5DF5825FF39F}"/>
              </a:ext>
            </a:extLst>
          </p:cNvPr>
          <p:cNvSpPr>
            <a:spLocks xmlns:a="http://schemas.openxmlformats.org/drawingml/2006/main" noGrp="1"/>
          </p:cNvSpPr>
          <p:nvPr/>
        </p:nvSpPr>
        <p:spPr>
          <a:xfrm xmlns:a="http://schemas.openxmlformats.org/drawingml/2006/main">
            <a:off x="3590925" y="3105150"/>
            <a:ext cx="2266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850" b="1">
                <a:solidFill>
                  <a:srgbClr val="F4F8FF"/>
                </a:solidFill>
                <a:latin typeface="Helvetica Neue"/>
                <a:ea typeface="Helvetica Neue"/>
                <a:cs typeface="Helvetica Neue"/>
              </a:defRPr>
            </a:pPr>
            <a:r>
              <a:rPr sz="2850" b="1">
                <a:solidFill>
                  <a:srgbClr val="F4F8FF"/>
                </a:solidFill>
                <a:latin typeface="Helvetica Neue"/>
                <a:ea typeface="Helvetica Neue"/>
                <a:cs typeface="Helvetica Neue"/>
              </a:rPr>
              <a:t>ZooWork</a:t>
            </a:r>
          </a:p>
        </p:txBody>
      </p:sp>
      <p:sp>
        <p:nvSpPr>
          <p:cNvPr id="11" name="">
            <a:extLst xmlns:a="http://schemas.openxmlformats.org/drawingml/2006/main">
              <a:ext uri="{FF2B5EF4-FFF2-40B4-BE49-F238E27FC236}">
                <a16:creationId xmlns:a16="http://schemas.microsoft.com/office/drawing/2014/main" id="{C9B5908A-ED17-4DA7-B8EC-FAFBD6CBA71A}"/>
              </a:ext>
            </a:extLst>
          </p:cNvPr>
          <p:cNvSpPr>
            <a:spLocks xmlns:a="http://schemas.openxmlformats.org/drawingml/2006/main" noGrp="1"/>
          </p:cNvSpPr>
          <p:nvPr/>
        </p:nvSpPr>
        <p:spPr>
          <a:xfrm xmlns:a="http://schemas.openxmlformats.org/drawingml/2006/main">
            <a:off x="3590925" y="4010025"/>
            <a:ext cx="2257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Runs managed reasoning</a:t>
            </a:r>
          </a:p>
        </p:txBody>
      </p:sp>
      <p:sp>
        <p:nvSpPr>
          <p:cNvPr id="12" name="">
            <a:extLst xmlns:a="http://schemas.openxmlformats.org/drawingml/2006/main">
              <a:ext uri="{FF2B5EF4-FFF2-40B4-BE49-F238E27FC236}">
                <a16:creationId xmlns:a16="http://schemas.microsoft.com/office/drawing/2014/main" id="{5E3057F3-EA01-47D6-8CAD-5F5F81A20783}"/>
              </a:ext>
            </a:extLst>
          </p:cNvPr>
          <p:cNvSpPr>
            <a:spLocks xmlns:a="http://schemas.openxmlformats.org/drawingml/2006/main" noGrp="1"/>
          </p:cNvSpPr>
          <p:nvPr/>
        </p:nvSpPr>
        <p:spPr>
          <a:xfrm xmlns:a="http://schemas.openxmlformats.org/drawingml/2006/main">
            <a:off x="6191250" y="2276475"/>
            <a:ext cx="2609850" cy="2619375"/>
          </a:xfrm>
          <a:prstGeom xmlns:a="http://schemas.openxmlformats.org/drawingml/2006/main" prst="roundRect">
            <a:avLst>
              <a:gd name="adj" fmla="val 2920"/>
            </a:avLst>
          </a:prstGeom>
          <a:solidFill xmlns:a="http://schemas.openxmlformats.org/drawingml/2006/main">
            <a:srgbClr val="141D2B"/>
          </a:solidFill>
          <a:ln xmlns:a="http://schemas.openxmlformats.org/drawingml/2006/main" w="9525">
            <a:solidFill>
              <a:srgbClr val="29384E"/>
            </a:solidFill>
          </a:ln>
        </p:spPr>
      </p:sp>
      <p:sp>
        <p:nvSpPr>
          <p:cNvPr id="13" name="">
            <a:extLst xmlns:a="http://schemas.openxmlformats.org/drawingml/2006/main">
              <a:ext uri="{FF2B5EF4-FFF2-40B4-BE49-F238E27FC236}">
                <a16:creationId xmlns:a16="http://schemas.microsoft.com/office/drawing/2014/main" id="{474AD2A8-099B-4098-BEEB-3964C492A6E5}"/>
              </a:ext>
            </a:extLst>
          </p:cNvPr>
          <p:cNvSpPr>
            <a:spLocks xmlns:a="http://schemas.openxmlformats.org/drawingml/2006/main" noGrp="1"/>
          </p:cNvSpPr>
          <p:nvPr/>
        </p:nvSpPr>
        <p:spPr>
          <a:xfrm xmlns:a="http://schemas.openxmlformats.org/drawingml/2006/main">
            <a:off x="6381750" y="255270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4ADE80"/>
                </a:solidFill>
                <a:latin typeface="Helvetica Neue"/>
                <a:ea typeface="Helvetica Neue"/>
                <a:cs typeface="Helvetica Neue"/>
              </a:defRPr>
            </a:pPr>
            <a:r>
              <a:rPr sz="1500" b="1">
                <a:solidFill>
                  <a:srgbClr val="4ADE80"/>
                </a:solidFill>
                <a:latin typeface="Helvetica Neue"/>
                <a:ea typeface="Helvetica Neue"/>
                <a:cs typeface="Helvetica Neue"/>
              </a:rPr>
              <a:t>RESEARCH</a:t>
            </a:r>
          </a:p>
        </p:txBody>
      </p:sp>
      <p:sp>
        <p:nvSpPr>
          <p:cNvPr id="14" name="">
            <a:extLst xmlns:a="http://schemas.openxmlformats.org/drawingml/2006/main">
              <a:ext uri="{FF2B5EF4-FFF2-40B4-BE49-F238E27FC236}">
                <a16:creationId xmlns:a16="http://schemas.microsoft.com/office/drawing/2014/main" id="{222FE19C-441F-431D-9A65-E22C257844C4}"/>
              </a:ext>
            </a:extLst>
          </p:cNvPr>
          <p:cNvSpPr>
            <a:spLocks xmlns:a="http://schemas.openxmlformats.org/drawingml/2006/main" noGrp="1"/>
          </p:cNvSpPr>
          <p:nvPr/>
        </p:nvSpPr>
        <p:spPr>
          <a:xfrm xmlns:a="http://schemas.openxmlformats.org/drawingml/2006/main">
            <a:off x="6381750" y="3105150"/>
            <a:ext cx="2266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850" b="1">
                <a:solidFill>
                  <a:srgbClr val="F4F8FF"/>
                </a:solidFill>
                <a:latin typeface="Helvetica Neue"/>
                <a:ea typeface="Helvetica Neue"/>
                <a:cs typeface="Helvetica Neue"/>
              </a:defRPr>
            </a:pPr>
            <a:r>
              <a:rPr sz="2850" b="1">
                <a:solidFill>
                  <a:srgbClr val="F4F8FF"/>
                </a:solidFill>
                <a:latin typeface="Helvetica Neue"/>
                <a:ea typeface="Helvetica Neue"/>
                <a:cs typeface="Helvetica Neue"/>
              </a:rPr>
              <a:t>Tavily</a:t>
            </a:r>
          </a:p>
        </p:txBody>
      </p:sp>
      <p:sp>
        <p:nvSpPr>
          <p:cNvPr id="15" name="">
            <a:extLst xmlns:a="http://schemas.openxmlformats.org/drawingml/2006/main">
              <a:ext uri="{FF2B5EF4-FFF2-40B4-BE49-F238E27FC236}">
                <a16:creationId xmlns:a16="http://schemas.microsoft.com/office/drawing/2014/main" id="{63FFD99D-203F-4FBE-8B6B-8D85D09D6C31}"/>
              </a:ext>
            </a:extLst>
          </p:cNvPr>
          <p:cNvSpPr>
            <a:spLocks xmlns:a="http://schemas.openxmlformats.org/drawingml/2006/main" noGrp="1"/>
          </p:cNvSpPr>
          <p:nvPr/>
        </p:nvSpPr>
        <p:spPr>
          <a:xfrm xmlns:a="http://schemas.openxmlformats.org/drawingml/2006/main">
            <a:off x="6381750" y="4010025"/>
            <a:ext cx="2257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Finds current evidence</a:t>
            </a:r>
          </a:p>
        </p:txBody>
      </p:sp>
      <p:sp>
        <p:nvSpPr>
          <p:cNvPr id="16" name="">
            <a:extLst xmlns:a="http://schemas.openxmlformats.org/drawingml/2006/main">
              <a:ext uri="{FF2B5EF4-FFF2-40B4-BE49-F238E27FC236}">
                <a16:creationId xmlns:a16="http://schemas.microsoft.com/office/drawing/2014/main" id="{91089066-968C-412B-B99D-4978215B42E9}"/>
              </a:ext>
            </a:extLst>
          </p:cNvPr>
          <p:cNvSpPr>
            <a:spLocks xmlns:a="http://schemas.openxmlformats.org/drawingml/2006/main" noGrp="1"/>
          </p:cNvSpPr>
          <p:nvPr/>
        </p:nvSpPr>
        <p:spPr>
          <a:xfrm xmlns:a="http://schemas.openxmlformats.org/drawingml/2006/main">
            <a:off x="8982075" y="2276475"/>
            <a:ext cx="2609850" cy="2619375"/>
          </a:xfrm>
          <a:prstGeom xmlns:a="http://schemas.openxmlformats.org/drawingml/2006/main" prst="roundRect">
            <a:avLst>
              <a:gd name="adj" fmla="val 2920"/>
            </a:avLst>
          </a:prstGeom>
          <a:solidFill xmlns:a="http://schemas.openxmlformats.org/drawingml/2006/main">
            <a:srgbClr val="141D2B"/>
          </a:solidFill>
          <a:ln xmlns:a="http://schemas.openxmlformats.org/drawingml/2006/main" w="9525">
            <a:solidFill>
              <a:srgbClr val="29384E"/>
            </a:solidFill>
          </a:ln>
        </p:spPr>
      </p:sp>
      <p:sp>
        <p:nvSpPr>
          <p:cNvPr id="17" name="">
            <a:extLst xmlns:a="http://schemas.openxmlformats.org/drawingml/2006/main">
              <a:ext uri="{FF2B5EF4-FFF2-40B4-BE49-F238E27FC236}">
                <a16:creationId xmlns:a16="http://schemas.microsoft.com/office/drawing/2014/main" id="{824C3AE1-B106-4BFC-A5B7-095F38EDDC6D}"/>
              </a:ext>
            </a:extLst>
          </p:cNvPr>
          <p:cNvSpPr>
            <a:spLocks xmlns:a="http://schemas.openxmlformats.org/drawingml/2006/main" noGrp="1"/>
          </p:cNvSpPr>
          <p:nvPr/>
        </p:nvSpPr>
        <p:spPr>
          <a:xfrm xmlns:a="http://schemas.openxmlformats.org/drawingml/2006/main">
            <a:off x="9172575" y="255270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F4F8FF"/>
                </a:solidFill>
                <a:latin typeface="Helvetica Neue"/>
                <a:ea typeface="Helvetica Neue"/>
                <a:cs typeface="Helvetica Neue"/>
              </a:defRPr>
            </a:pPr>
            <a:r>
              <a:rPr sz="1500" b="1">
                <a:solidFill>
                  <a:srgbClr val="F4F8FF"/>
                </a:solidFill>
                <a:latin typeface="Helvetica Neue"/>
                <a:ea typeface="Helvetica Neue"/>
                <a:cs typeface="Helvetica Neue"/>
              </a:rPr>
              <a:t>DISCUSSION</a:t>
            </a:r>
          </a:p>
        </p:txBody>
      </p:sp>
      <p:sp>
        <p:nvSpPr>
          <p:cNvPr id="18" name="">
            <a:extLst xmlns:a="http://schemas.openxmlformats.org/drawingml/2006/main">
              <a:ext uri="{FF2B5EF4-FFF2-40B4-BE49-F238E27FC236}">
                <a16:creationId xmlns:a16="http://schemas.microsoft.com/office/drawing/2014/main" id="{A337235E-4230-4AD1-BD7A-CBFE63D8F072}"/>
              </a:ext>
            </a:extLst>
          </p:cNvPr>
          <p:cNvSpPr>
            <a:spLocks xmlns:a="http://schemas.openxmlformats.org/drawingml/2006/main" noGrp="1"/>
          </p:cNvSpPr>
          <p:nvPr/>
        </p:nvSpPr>
        <p:spPr>
          <a:xfrm xmlns:a="http://schemas.openxmlformats.org/drawingml/2006/main">
            <a:off x="9172575" y="3105150"/>
            <a:ext cx="2266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850" b="1">
                <a:solidFill>
                  <a:srgbClr val="F4F8FF"/>
                </a:solidFill>
                <a:latin typeface="Helvetica Neue"/>
                <a:ea typeface="Helvetica Neue"/>
                <a:cs typeface="Helvetica Neue"/>
              </a:defRPr>
            </a:pPr>
            <a:r>
              <a:rPr sz="2850" b="1">
                <a:solidFill>
                  <a:srgbClr val="F4F8FF"/>
                </a:solidFill>
                <a:latin typeface="Helvetica Neue"/>
                <a:ea typeface="Helvetica Neue"/>
                <a:cs typeface="Helvetica Neue"/>
              </a:rPr>
              <a:t>BAND</a:t>
            </a:r>
          </a:p>
        </p:txBody>
      </p:sp>
      <p:sp>
        <p:nvSpPr>
          <p:cNvPr id="19" name="">
            <a:extLst xmlns:a="http://schemas.openxmlformats.org/drawingml/2006/main">
              <a:ext uri="{FF2B5EF4-FFF2-40B4-BE49-F238E27FC236}">
                <a16:creationId xmlns:a16="http://schemas.microsoft.com/office/drawing/2014/main" id="{2DA01EC0-4D78-4EE3-9C4A-D07C4147D832}"/>
              </a:ext>
            </a:extLst>
          </p:cNvPr>
          <p:cNvSpPr>
            <a:spLocks xmlns:a="http://schemas.openxmlformats.org/drawingml/2006/main" noGrp="1"/>
          </p:cNvSpPr>
          <p:nvPr/>
        </p:nvSpPr>
        <p:spPr>
          <a:xfrm xmlns:a="http://schemas.openxmlformats.org/drawingml/2006/main">
            <a:off x="9172575" y="4010025"/>
            <a:ext cx="2257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94A6BF"/>
                </a:solidFill>
                <a:latin typeface="Helvetica Neue"/>
                <a:ea typeface="Helvetica Neue"/>
                <a:cs typeface="Helvetica Neue"/>
              </a:defRPr>
            </a:pPr>
            <a:r>
              <a:rPr sz="1875" b="0">
                <a:solidFill>
                  <a:srgbClr val="94A6BF"/>
                </a:solidFill>
                <a:latin typeface="Helvetica Neue"/>
                <a:ea typeface="Helvetica Neue"/>
                <a:cs typeface="Helvetica Neue"/>
              </a:rPr>
              <a:t>Routes expert contributions</a:t>
            </a:r>
          </a:p>
        </p:txBody>
      </p:sp>
      <p:sp>
        <p:nvSpPr>
          <p:cNvPr id="20" name="">
            <a:extLst xmlns:a="http://schemas.openxmlformats.org/drawingml/2006/main">
              <a:ext uri="{FF2B5EF4-FFF2-40B4-BE49-F238E27FC236}">
                <a16:creationId xmlns:a16="http://schemas.microsoft.com/office/drawing/2014/main" id="{87DCDB66-A6BD-49DA-A898-529C60FBD7CF}"/>
              </a:ext>
            </a:extLst>
          </p:cNvPr>
          <p:cNvSpPr>
            <a:spLocks xmlns:a="http://schemas.openxmlformats.org/drawingml/2006/main" noGrp="1"/>
          </p:cNvSpPr>
          <p:nvPr/>
        </p:nvSpPr>
        <p:spPr>
          <a:xfrm xmlns:a="http://schemas.openxmlformats.org/drawingml/2006/main">
            <a:off x="609600" y="53911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5BE7FF"/>
                </a:solidFill>
                <a:latin typeface="Helvetica Neue"/>
                <a:ea typeface="Helvetica Neue"/>
                <a:cs typeface="Helvetica Neue"/>
              </a:defRPr>
            </a:pPr>
            <a:r>
              <a:rPr sz="2700" b="1">
                <a:solidFill>
                  <a:srgbClr val="5BE7FF"/>
                </a:solidFill>
                <a:latin typeface="Helvetica Neue"/>
                <a:ea typeface="Helvetica Neue"/>
                <a:cs typeface="Helvetica Neue"/>
              </a:rPr>
              <a:t>Taste memory + generated signals + evidence + personal ranking</a:t>
            </a:r>
          </a:p>
        </p:txBody>
      </p:sp>
    </p:spTree>
    <p:extLst>
      <p:ext uri="{BB962C8B-B14F-4D97-AF65-F5344CB8AC3E}">
        <p14:creationId xmlns:p14="http://schemas.microsoft.com/office/powerpoint/2010/main" val="764689073"/>
      </p:ext>
    </p:extLst>
  </p:cSld>
</p:sld>
</file>

<file path=ppt/slides/slide10.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9BA0D0-8933-4C30-8B2A-F5CECFA94935}"/>
              </a:ext>
            </a:extLst>
          </p:cNvPr>
          <p:cNvSpPr>
            <a:spLocks xmlns:a="http://schemas.openxmlformats.org/drawingml/2006/main" noGrp="1"/>
          </p:cNvSpPr>
          <p:nvPr/>
        </p:nvSpPr>
        <p:spPr>
          <a:xfrm xmlns:a="http://schemas.openxmlformats.org/drawingml/2006/main">
            <a:off x="609600" y="266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5BE7FF"/>
                </a:solidFill>
                <a:latin typeface="Helvetica Neue"/>
                <a:ea typeface="Helvetica Neue"/>
                <a:cs typeface="Helvetica Neue"/>
              </a:defRPr>
            </a:pPr>
            <a:r>
              <a:rPr sz="1350" b="1">
                <a:solidFill>
                  <a:srgbClr val="5BE7FF"/>
                </a:solidFill>
                <a:latin typeface="Helvetica Neue"/>
                <a:ea typeface="Helvetica Neue"/>
                <a:cs typeface="Helvetica Neue"/>
              </a:rPr>
              <a:t>FINDWISE</a:t>
            </a:r>
          </a:p>
        </p:txBody>
      </p:sp>
      <p:sp>
        <p:nvSpPr>
          <p:cNvPr id="2" name="">
            <a:extLst xmlns:a="http://schemas.openxmlformats.org/drawingml/2006/main">
              <a:ext uri="{FF2B5EF4-FFF2-40B4-BE49-F238E27FC236}">
                <a16:creationId xmlns:a16="http://schemas.microsoft.com/office/drawing/2014/main" id="{AB809A34-725D-4B52-88C0-A18877232A8E}"/>
              </a:ext>
            </a:extLst>
          </p:cNvPr>
          <p:cNvSpPr>
            <a:spLocks xmlns:a="http://schemas.openxmlformats.org/drawingml/2006/main" noGrp="1"/>
          </p:cNvSpPr>
          <p:nvPr/>
        </p:nvSpPr>
        <p:spPr>
          <a:xfrm xmlns:a="http://schemas.openxmlformats.org/drawingml/2006/main">
            <a:off x="10668000" y="2667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94A6BF"/>
                </a:solidFill>
                <a:latin typeface="Helvetica Neue"/>
                <a:ea typeface="Helvetica Neue"/>
                <a:cs typeface="Helvetica Neue"/>
              </a:defRPr>
            </a:pPr>
            <a:r>
              <a:rPr sz="1350" b="0">
                <a:solidFill>
                  <a:srgbClr val="94A6BF"/>
                </a:solidFill>
                <a:latin typeface="Helvetica Neue"/>
                <a:ea typeface="Helvetica Neue"/>
                <a:cs typeface="Helvetica Neue"/>
              </a:rPr>
              <a:t>10 / 10</a:t>
            </a:r>
          </a:p>
        </p:txBody>
      </p:sp>
      <p:sp>
        <p:nvSpPr>
          <p:cNvPr id="3" name="">
            <a:extLst xmlns:a="http://schemas.openxmlformats.org/drawingml/2006/main">
              <a:ext uri="{FF2B5EF4-FFF2-40B4-BE49-F238E27FC236}">
                <a16:creationId xmlns:a16="http://schemas.microsoft.com/office/drawing/2014/main" id="{AC864A4D-993C-4AF6-BF75-928C31D29820}"/>
              </a:ext>
            </a:extLst>
          </p:cNvPr>
          <p:cNvSpPr>
            <a:spLocks xmlns:a="http://schemas.openxmlformats.org/drawingml/2006/main" noGrp="1"/>
          </p:cNvSpPr>
          <p:nvPr/>
        </p:nvSpPr>
        <p:spPr>
          <a:xfrm xmlns:a="http://schemas.openxmlformats.org/drawingml/2006/main">
            <a:off x="609600" y="12382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75" b="0">
                <a:solidFill>
                  <a:srgbClr val="94A6BF"/>
                </a:solidFill>
                <a:latin typeface="Helvetica Neue"/>
                <a:ea typeface="Helvetica Neue"/>
                <a:cs typeface="Helvetica Neue"/>
              </a:defRPr>
            </a:pPr>
            <a:r>
              <a:rPr sz="3375" b="0">
                <a:solidFill>
                  <a:srgbClr val="94A6BF"/>
                </a:solidFill>
                <a:latin typeface="Helvetica Neue"/>
                <a:ea typeface="Helvetica Neue"/>
                <a:cs typeface="Helvetica Neue"/>
              </a:rPr>
              <a:t>Google remembers pages.</a:t>
            </a:r>
          </a:p>
        </p:txBody>
      </p:sp>
      <p:sp>
        <p:nvSpPr>
          <p:cNvPr id="4" name="">
            <a:extLst xmlns:a="http://schemas.openxmlformats.org/drawingml/2006/main">
              <a:ext uri="{FF2B5EF4-FFF2-40B4-BE49-F238E27FC236}">
                <a16:creationId xmlns:a16="http://schemas.microsoft.com/office/drawing/2014/main" id="{41779F14-7473-4584-BA32-FC2D79DC3E0D}"/>
              </a:ext>
            </a:extLst>
          </p:cNvPr>
          <p:cNvSpPr>
            <a:spLocks xmlns:a="http://schemas.openxmlformats.org/drawingml/2006/main" noGrp="1"/>
          </p:cNvSpPr>
          <p:nvPr/>
        </p:nvSpPr>
        <p:spPr>
          <a:xfrm xmlns:a="http://schemas.openxmlformats.org/drawingml/2006/main">
            <a:off x="609600" y="21621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75" b="0">
                <a:solidFill>
                  <a:srgbClr val="94A6BF"/>
                </a:solidFill>
                <a:latin typeface="Helvetica Neue"/>
                <a:ea typeface="Helvetica Neue"/>
                <a:cs typeface="Helvetica Neue"/>
              </a:defRPr>
            </a:pPr>
            <a:r>
              <a:rPr sz="3375" b="0">
                <a:solidFill>
                  <a:srgbClr val="94A6BF"/>
                </a:solidFill>
                <a:latin typeface="Helvetica Neue"/>
                <a:ea typeface="Helvetica Neue"/>
                <a:cs typeface="Helvetica Neue"/>
              </a:rPr>
              <a:t>Spotify remembers songs.</a:t>
            </a:r>
          </a:p>
        </p:txBody>
      </p:sp>
      <p:sp>
        <p:nvSpPr>
          <p:cNvPr id="5" name="">
            <a:extLst xmlns:a="http://schemas.openxmlformats.org/drawingml/2006/main">
              <a:ext uri="{FF2B5EF4-FFF2-40B4-BE49-F238E27FC236}">
                <a16:creationId xmlns:a16="http://schemas.microsoft.com/office/drawing/2014/main" id="{5FFBB81A-BE8D-4DE1-A5F7-A7EF4BE0D679}"/>
              </a:ext>
            </a:extLst>
          </p:cNvPr>
          <p:cNvSpPr>
            <a:spLocks xmlns:a="http://schemas.openxmlformats.org/drawingml/2006/main" noGrp="1"/>
          </p:cNvSpPr>
          <p:nvPr/>
        </p:nvSpPr>
        <p:spPr>
          <a:xfrm xmlns:a="http://schemas.openxmlformats.org/drawingml/2006/main">
            <a:off x="609600" y="30861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75" b="0">
                <a:solidFill>
                  <a:srgbClr val="94A6BF"/>
                </a:solidFill>
                <a:latin typeface="Helvetica Neue"/>
                <a:ea typeface="Helvetica Neue"/>
                <a:cs typeface="Helvetica Neue"/>
              </a:defRPr>
            </a:pPr>
            <a:r>
              <a:rPr sz="3375" b="0">
                <a:solidFill>
                  <a:srgbClr val="94A6BF"/>
                </a:solidFill>
                <a:latin typeface="Helvetica Neue"/>
                <a:ea typeface="Helvetica Neue"/>
                <a:cs typeface="Helvetica Neue"/>
              </a:rPr>
              <a:t>Netflix remembers movies.</a:t>
            </a:r>
          </a:p>
        </p:txBody>
      </p:sp>
      <p:sp>
        <p:nvSpPr>
          <p:cNvPr id="6" name="">
            <a:extLst xmlns:a="http://schemas.openxmlformats.org/drawingml/2006/main">
              <a:ext uri="{FF2B5EF4-FFF2-40B4-BE49-F238E27FC236}">
                <a16:creationId xmlns:a16="http://schemas.microsoft.com/office/drawing/2014/main" id="{F0AA6CEF-18DF-4626-83EE-F7BC43544834}"/>
              </a:ext>
            </a:extLst>
          </p:cNvPr>
          <p:cNvSpPr>
            <a:spLocks xmlns:a="http://schemas.openxmlformats.org/drawingml/2006/main" noGrp="1"/>
          </p:cNvSpPr>
          <p:nvPr/>
        </p:nvSpPr>
        <p:spPr>
          <a:xfrm xmlns:a="http://schemas.openxmlformats.org/drawingml/2006/main">
            <a:off x="609600" y="416242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875" b="1">
                <a:solidFill>
                  <a:srgbClr val="5BE7FF"/>
                </a:solidFill>
                <a:latin typeface="Helvetica Neue"/>
                <a:ea typeface="Helvetica Neue"/>
                <a:cs typeface="Helvetica Neue"/>
              </a:defRPr>
            </a:pPr>
            <a:r>
              <a:rPr sz="4875" b="1">
                <a:solidFill>
                  <a:srgbClr val="5BE7FF"/>
                </a:solidFill>
                <a:latin typeface="Helvetica Neue"/>
                <a:ea typeface="Helvetica Neue"/>
                <a:cs typeface="Helvetica Neue"/>
              </a:rPr>
              <a:t>FindWise remembers YOU.</a:t>
            </a:r>
          </a:p>
        </p:txBody>
      </p:sp>
      <p:sp>
        <p:nvSpPr>
          <p:cNvPr id="7" name="">
            <a:extLst xmlns:a="http://schemas.openxmlformats.org/drawingml/2006/main">
              <a:ext uri="{FF2B5EF4-FFF2-40B4-BE49-F238E27FC236}">
                <a16:creationId xmlns:a16="http://schemas.microsoft.com/office/drawing/2014/main" id="{6A25BF83-E794-4C2B-931B-9CA29FE17760}"/>
              </a:ext>
            </a:extLst>
          </p:cNvPr>
          <p:cNvSpPr>
            <a:spLocks xmlns:a="http://schemas.openxmlformats.org/drawingml/2006/main" noGrp="1"/>
          </p:cNvSpPr>
          <p:nvPr/>
        </p:nvSpPr>
        <p:spPr>
          <a:xfrm xmlns:a="http://schemas.openxmlformats.org/drawingml/2006/main">
            <a:off x="609600" y="56197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F4F8FF"/>
                </a:solidFill>
                <a:latin typeface="Helvetica Neue"/>
                <a:ea typeface="Helvetica Neue"/>
                <a:cs typeface="Helvetica Neue"/>
              </a:defRPr>
            </a:pPr>
            <a:r>
              <a:rPr sz="2250" b="0">
                <a:solidFill>
                  <a:srgbClr val="F4F8FF"/>
                </a:solidFill>
                <a:latin typeface="Helvetica Neue"/>
                <a:ea typeface="Helvetica Neue"/>
                <a:cs typeface="Helvetica Neue"/>
              </a:rPr>
              <a:t>Search engines help you find what's available.</a:t>
            </a:r>
          </a:p>
          <a:p xmlns:a="http://schemas.openxmlformats.org/drawingml/2006/main">
            <a:pPr>
              <a:defRPr sz="2250" b="0">
                <a:solidFill>
                  <a:srgbClr val="F4F8FF"/>
                </a:solidFill>
                <a:latin typeface="Helvetica Neue"/>
                <a:ea typeface="Helvetica Neue"/>
                <a:cs typeface="Helvetica Neue"/>
              </a:defRPr>
            </a:pPr>
            <a:r>
              <a:rPr sz="2250" b="0">
                <a:solidFill>
                  <a:srgbClr val="F4F8FF"/>
                </a:solidFill>
                <a:latin typeface="Helvetica Neue"/>
                <a:ea typeface="Helvetica Neue"/>
                <a:cs typeface="Helvetica Neue"/>
              </a:rPr>
              <a:t>FindWise helps you choose what's right for you.</a:t>
            </a:r>
          </a:p>
        </p:txBody>
      </p:sp>
    </p:spTree>
    <p:extLst>
      <p:ext uri="{BB962C8B-B14F-4D97-AF65-F5344CB8AC3E}">
        <p14:creationId xmlns:p14="http://schemas.microsoft.com/office/powerpoint/2010/main" val="16530554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2026-10-03T22:45:35.7120000Z</dcterms:created>
  <dcterms:modified xsi:type="dcterms:W3CDTF">2026-10-03T22:45:35.7120000Z</dcterms:modified>
</coreProperties>
</file>